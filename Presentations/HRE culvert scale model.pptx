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61" r:id="rId3"/>
    <p:sldId id="262" r:id="rId4"/>
    <p:sldId id="263" r:id="rId5"/>
    <p:sldId id="264" r:id="rId6"/>
    <p:sldId id="266" r:id="rId7"/>
    <p:sldId id="267" r:id="rId8"/>
    <p:sldId id="269" r:id="rId9"/>
    <p:sldId id="265" r:id="rId10"/>
    <p:sldId id="268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1F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81"/>
  </p:normalViewPr>
  <p:slideViewPr>
    <p:cSldViewPr snapToGrid="0">
      <p:cViewPr>
        <p:scale>
          <a:sx n="96" d="100"/>
          <a:sy n="96" d="100"/>
        </p:scale>
        <p:origin x="1352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2A6E2A-80F9-CE4D-9755-0080938B0910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860AA5-7C4E-5445-8505-2C34659F93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5033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860AA5-7C4E-5445-8505-2C34659F936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3422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4D081-40B3-CFF5-D416-CA3B752FA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B1B58C-064D-256F-6B45-251501E239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159682-705C-3092-C707-59EDC34955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E8FDDF-6E9D-A7B6-1D78-2E0281AF18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860AA5-7C4E-5445-8505-2C34659F936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36787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D52A5-D477-A247-A2D2-0609F10D63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526F69-4748-080F-F058-0D8932440F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BD17B5-5629-C944-BE81-69CAA2497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78937-E087-BE4F-B30E-67A1FF7F09C1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610416-A8A8-059A-225B-A6124F7DA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08683-32EE-DDC1-AB02-51FC3C984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7927E-D0C0-C247-A2EC-73DE2CD5DC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0015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2A907-13C2-0F3B-00D4-252D80B47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05E2FE-85D1-C8E1-B647-F1D96193FF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A33F92-6B85-B4D4-003C-7228BDDAEC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78937-E087-BE4F-B30E-67A1FF7F09C1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55AE3-7BAE-1F98-9B7A-BB53B536F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71FC45-6DBE-F0F9-DCD7-04684F558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7927E-D0C0-C247-A2EC-73DE2CD5DC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767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CBF6-ECB4-89E7-0916-F3E46FB568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414FF9-08C3-BEE7-7126-D9C9B6F3D9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AB47AA-2C30-B5B7-F2DC-BF09104FF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78937-E087-BE4F-B30E-67A1FF7F09C1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A9F68F-7051-DED0-2BBD-C673684F2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D4AF1C-B50F-DEEA-C767-7047209D3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7927E-D0C0-C247-A2EC-73DE2CD5DC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883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F810C-7717-F8F4-9BBF-7545E42EE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8082A5-E01A-96AE-B6B9-AC6AACDFB3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E47644-BEE1-99D3-00BD-70215FAE75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4CD81C-73EE-FF76-4008-53E8D747D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78937-E087-BE4F-B30E-67A1FF7F09C1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D567D7-12F6-74D5-A491-71C7550D5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7642D8-6982-AB94-17DE-0C1FD7656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7927E-D0C0-C247-A2EC-73DE2CD5DC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520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84A5D-5010-A903-7841-3B0CFA71B4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16445A-6F32-5DCF-74CF-29EE8FD619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147A7C-2453-7B22-8E60-BDF5189C7B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6600ED-F564-EB81-0E1A-127D27D741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BF3F98-7DED-59BD-83D6-C6C3103381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BD42501-A89A-F29D-DE4B-B1BF0CE27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78937-E087-BE4F-B30E-67A1FF7F09C1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4190AD-1D31-C724-2219-A406601517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056F5D-2AED-7298-64CB-ED83EFF48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7927E-D0C0-C247-A2EC-73DE2CD5DC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1833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79D5FD-6BF7-5C7F-3509-A25C379D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CC2DC8-FB90-EEE0-40F3-9D840CCDA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78937-E087-BE4F-B30E-67A1FF7F09C1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45D5C1-FE8E-6312-AFCE-14E6DDFD8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39300B-D47A-6CC6-01E0-E2B71C4F1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7927E-D0C0-C247-A2EC-73DE2CD5DC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4207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890ED2-46AA-8D71-798A-B7F9CD86A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78937-E087-BE4F-B30E-67A1FF7F09C1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BD708B-01F3-0D26-448E-ACA168BBD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A6BBE8-FBCB-EAF2-F97F-C6423AFB3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7927E-D0C0-C247-A2EC-73DE2CD5DC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1417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7B6B7-6D2C-CD3D-9C9A-276C4CAEA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620982-1B36-159B-22A1-3F09801DA6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64DCCF-D249-E553-50B5-682B3B0210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D9AA37-B88D-3DD4-149D-13C2586B2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78937-E087-BE4F-B30E-67A1FF7F09C1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28B602-8E04-29FC-9ACC-4EFA85ECB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FA997D-8E29-3869-8835-161E7393F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7927E-D0C0-C247-A2EC-73DE2CD5DC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2151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75511-5729-D283-8B78-08F15AF0F5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989CBA-EEE8-E02F-E498-39DB80848B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06F760-9A01-A65F-47B2-4306623FE3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F344B3-CA32-2014-5080-4863CCA6EF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78937-E087-BE4F-B30E-67A1FF7F09C1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D3A939-EB95-76A6-62F5-853506F77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A873F1-B313-2440-F85F-7BCBBCCA4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7927E-D0C0-C247-A2EC-73DE2CD5DC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641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E87BE-F338-AD38-7789-91D1B658F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D0E872-5383-90EC-A031-BF989310F6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DE9461-5AC7-039F-9731-E68D42B96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78937-E087-BE4F-B30E-67A1FF7F09C1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EF8F63-EDE9-4A63-2261-F948C51D9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078AD8-8126-21CA-1DF9-B3FFC1FEF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7927E-D0C0-C247-A2EC-73DE2CD5DC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6635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A0B345-40E5-A85A-F96F-B2269A603D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E18AB6-AA2B-619B-91E8-D7A4C3E91F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06F559-04BC-B4EF-C6A9-B27A7C148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78937-E087-BE4F-B30E-67A1FF7F09C1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AEDA83-8C01-2D14-641A-6EE8D4112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8044A-A387-80D7-44A3-D63B3CF4F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7927E-D0C0-C247-A2EC-73DE2CD5DC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539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4F8062-422A-00C8-EA40-FC4BF478D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2A43B8-E9B8-DCD8-53DB-CC093C474C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B64DE0-6763-FFEE-5427-3ABBE98616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778937-E087-BE4F-B30E-67A1FF7F09C1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2C59FF-26D3-A3E6-8EFC-D023767F47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D3618E-A26D-0C0B-22F5-D86F666D22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C7927E-D0C0-C247-A2EC-73DE2CD5DC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180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97101B-0AB0-1E92-63D7-5615782C12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en-US" sz="4500" dirty="0">
                <a:solidFill>
                  <a:srgbClr val="FFFFFF"/>
                </a:solidFill>
                <a:latin typeface="Avenir Next" panose="020B0503020202020204" pitchFamily="34" charset="0"/>
              </a:rPr>
              <a:t>An experimental scale-model study of a bidirectional flow control culvert</a:t>
            </a:r>
            <a:br>
              <a:rPr lang="en-US" sz="4500" dirty="0">
                <a:solidFill>
                  <a:srgbClr val="FFFFFF"/>
                </a:solidFill>
                <a:latin typeface="Avenir Next" panose="020B0503020202020204" pitchFamily="34" charset="0"/>
              </a:rPr>
            </a:br>
            <a:r>
              <a:rPr lang="en-US" sz="4500" dirty="0">
                <a:solidFill>
                  <a:srgbClr val="FFFFFF"/>
                </a:solidFill>
                <a:latin typeface="Avenir Next" panose="020B0503020202020204" pitchFamily="34" charset="0"/>
              </a:rPr>
              <a:t>in the Chequessett Neck Road dike at the Herring River Estuary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15D15E5B-9CB4-A6BF-22CE-24AB567242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8037" y="5063418"/>
            <a:ext cx="10005951" cy="1035354"/>
          </a:xfrm>
        </p:spPr>
        <p:txBody>
          <a:bodyPr anchor="ctr">
            <a:normAutofit/>
          </a:bodyPr>
          <a:lstStyle/>
          <a:p>
            <a:pPr algn="l"/>
            <a:r>
              <a:rPr lang="en-US" dirty="0">
                <a:latin typeface="Avenir Next" panose="020B0503020202020204" pitchFamily="34" charset="0"/>
              </a:rPr>
              <a:t>Claire Wang</a:t>
            </a:r>
          </a:p>
          <a:p>
            <a:pPr algn="l"/>
            <a:r>
              <a:rPr lang="en-US" dirty="0">
                <a:latin typeface="Avenir Next" panose="020B0503020202020204" pitchFamily="34" charset="0"/>
              </a:rPr>
              <a:t>Environmental Engineering Undergraduate ’27</a:t>
            </a:r>
          </a:p>
        </p:txBody>
      </p:sp>
    </p:spTree>
    <p:extLst>
      <p:ext uri="{BB962C8B-B14F-4D97-AF65-F5344CB8AC3E}">
        <p14:creationId xmlns:p14="http://schemas.microsoft.com/office/powerpoint/2010/main" val="1504183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60E458-A3DF-7A87-0632-22CC27E29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575255-F191-EDA0-4C44-9E6FC5BD5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346" y="348967"/>
            <a:ext cx="9895951" cy="1033669"/>
          </a:xfrm>
        </p:spPr>
        <p:txBody>
          <a:bodyPr>
            <a:normAutofit/>
          </a:bodyPr>
          <a:lstStyle/>
          <a:p>
            <a:r>
              <a:rPr lang="en-US" sz="5000" dirty="0">
                <a:solidFill>
                  <a:srgbClr val="FFFFFF"/>
                </a:solidFill>
                <a:latin typeface="Avenir Next" panose="020B0503020202020204" pitchFamily="34" charset="0"/>
              </a:rPr>
              <a:t>Background and motivation</a:t>
            </a:r>
          </a:p>
        </p:txBody>
      </p:sp>
      <p:pic>
        <p:nvPicPr>
          <p:cNvPr id="5" name="Content Placeholder 4" descr="A graph of a diagram&#10;&#10;AI-generated content may be incorrect.">
            <a:extLst>
              <a:ext uri="{FF2B5EF4-FFF2-40B4-BE49-F238E27FC236}">
                <a16:creationId xmlns:a16="http://schemas.microsoft.com/office/drawing/2014/main" id="{18613D00-571B-8E33-ED40-EA0F5914E8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8295" y="2089228"/>
            <a:ext cx="6181279" cy="3985001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50A30AC-1492-F8DD-786C-508207B0E6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069" y="2089228"/>
            <a:ext cx="5258715" cy="4419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2046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8C96E2-7D16-E8C9-B8B6-0F7122E2C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2E57D86-5F37-2023-E2F7-E385B1E21C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BC4CEE-0C60-C68E-1028-828FFD8097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F207EF6-5A31-9CDF-E4AE-94E06D23FF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F5CFC7A-D43C-9EFC-2AB6-A37E525BCB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9959132-F6D7-B0D0-075E-6C395EDCA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F313D1-235C-C915-1915-939D3D273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346" y="278535"/>
            <a:ext cx="9895951" cy="1033669"/>
          </a:xfrm>
        </p:spPr>
        <p:txBody>
          <a:bodyPr>
            <a:noAutofit/>
          </a:bodyPr>
          <a:lstStyle/>
          <a:p>
            <a:r>
              <a:rPr lang="en-US" sz="4500" dirty="0">
                <a:solidFill>
                  <a:srgbClr val="FFFFFF"/>
                </a:solidFill>
                <a:latin typeface="Avenir Next" panose="020B0503020202020204" pitchFamily="34" charset="0"/>
              </a:rPr>
              <a:t>Bidirectional culvert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13A26190-BB84-5EB8-7F1B-5D1432C2D0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45"/>
          <a:stretch>
            <a:fillRect/>
          </a:stretch>
        </p:blipFill>
        <p:spPr bwMode="auto">
          <a:xfrm>
            <a:off x="1500508" y="2139362"/>
            <a:ext cx="9190979" cy="4163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9124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37529B-020B-278E-68BA-025985A76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C41F51C-F3A7-6A14-B076-026457C509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37625B-F71C-0DB4-8972-EFD174E3A4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185E1F3-9872-2BFC-92CC-89B5895851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7565F9-EF85-A6F8-56ED-F790A52078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E24176-474A-67FF-C70A-0E87C852E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50399E-9570-BC60-60EB-6065A36530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346" y="338293"/>
            <a:ext cx="9895951" cy="1033669"/>
          </a:xfrm>
        </p:spPr>
        <p:txBody>
          <a:bodyPr>
            <a:normAutofit/>
          </a:bodyPr>
          <a:lstStyle/>
          <a:p>
            <a:r>
              <a:rPr lang="en-US" sz="5000" dirty="0">
                <a:solidFill>
                  <a:srgbClr val="FFFFFF"/>
                </a:solidFill>
                <a:latin typeface="Avenir Next" panose="020B0503020202020204" pitchFamily="34" charset="0"/>
              </a:rPr>
              <a:t>Research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F63171-5720-D47B-A92D-E76BF2A547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6330" y="2010249"/>
            <a:ext cx="11550870" cy="4179533"/>
          </a:xfrm>
        </p:spPr>
        <p:txBody>
          <a:bodyPr anchor="ctr">
            <a:normAutofit/>
          </a:bodyPr>
          <a:lstStyle/>
          <a:p>
            <a:r>
              <a:rPr lang="en-US" sz="3000" dirty="0">
                <a:latin typeface="Avenir Next" panose="020B0503020202020204" pitchFamily="34" charset="0"/>
              </a:rPr>
              <a:t>How does the scale model in the lab compare to field measurements and existing models?</a:t>
            </a:r>
          </a:p>
          <a:p>
            <a:pPr marL="0" indent="0">
              <a:buNone/>
            </a:pPr>
            <a:endParaRPr lang="en-US" sz="3000" dirty="0">
              <a:latin typeface="Avenir Next" panose="020B0503020202020204" pitchFamily="34" charset="0"/>
            </a:endParaRPr>
          </a:p>
          <a:p>
            <a:r>
              <a:rPr lang="en-US" sz="3000" dirty="0">
                <a:latin typeface="Avenir Next" panose="020B0503020202020204" pitchFamily="34" charset="0"/>
              </a:rPr>
              <a:t>What is the head loss generated by the hydraulic jump in the culvert?</a:t>
            </a:r>
          </a:p>
          <a:p>
            <a:endParaRPr lang="en-US" sz="3000" dirty="0">
              <a:latin typeface="Avenir Next" panose="020B0503020202020204" pitchFamily="34" charset="0"/>
            </a:endParaRPr>
          </a:p>
          <a:p>
            <a:r>
              <a:rPr lang="en-US" sz="3000" dirty="0">
                <a:latin typeface="Avenir Next" panose="020B0503020202020204" pitchFamily="34" charset="0"/>
              </a:rPr>
              <a:t>What is causing the hysteresis seen in the experimental stage-velocity curves?</a:t>
            </a:r>
          </a:p>
        </p:txBody>
      </p:sp>
    </p:spTree>
    <p:extLst>
      <p:ext uri="{BB962C8B-B14F-4D97-AF65-F5344CB8AC3E}">
        <p14:creationId xmlns:p14="http://schemas.microsoft.com/office/powerpoint/2010/main" val="29763131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F5C7C0-3F88-EA01-6F6A-5321902F1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F8A5046-4284-8193-35DF-33F99A1B17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5B87A5-2CE6-17CE-B781-56731994AF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6CD303-7AEB-C327-0C70-18770AC48D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C6DFB1-C238-69A6-78D6-10CA86450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A06C14-3611-61F4-3BE0-545A0BB9A9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07861B-8B2A-436A-B416-7191F2578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410" y="303698"/>
            <a:ext cx="9895951" cy="1033669"/>
          </a:xfrm>
        </p:spPr>
        <p:txBody>
          <a:bodyPr>
            <a:normAutofit/>
          </a:bodyPr>
          <a:lstStyle/>
          <a:p>
            <a:r>
              <a:rPr lang="en-US" sz="5000" dirty="0">
                <a:solidFill>
                  <a:srgbClr val="FFFFFF"/>
                </a:solidFill>
              </a:rPr>
              <a:t>Experimental setup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284521C-1AE6-9C90-6005-2AD561C225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350" y="1740644"/>
            <a:ext cx="9992358" cy="95265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Using open channel flow flume as a scale model</a:t>
            </a:r>
          </a:p>
          <a:p>
            <a:pPr marL="457200" lvl="1" indent="0">
              <a:buNone/>
            </a:pPr>
            <a:r>
              <a:rPr lang="en-US" dirty="0"/>
              <a:t>Scale factor - </a:t>
            </a:r>
            <a:r>
              <a:rPr lang="en-US" dirty="0">
                <a:highlight>
                  <a:srgbClr val="FFFF00"/>
                </a:highlight>
              </a:rPr>
              <a:t>3.05:1</a:t>
            </a: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7B628E22-36A4-218F-8DDF-02C0D604B725}"/>
              </a:ext>
            </a:extLst>
          </p:cNvPr>
          <p:cNvGrpSpPr/>
          <p:nvPr/>
        </p:nvGrpSpPr>
        <p:grpSpPr>
          <a:xfrm>
            <a:off x="306749" y="2753597"/>
            <a:ext cx="11312805" cy="4020660"/>
            <a:chOff x="753010" y="2721388"/>
            <a:chExt cx="11312805" cy="402066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C86636D-C963-2A31-F870-672805F02DC4}"/>
                </a:ext>
              </a:extLst>
            </p:cNvPr>
            <p:cNvCxnSpPr>
              <a:cxnSpLocks/>
            </p:cNvCxnSpPr>
            <p:nvPr/>
          </p:nvCxnSpPr>
          <p:spPr>
            <a:xfrm>
              <a:off x="2254769" y="6162347"/>
              <a:ext cx="8279119" cy="0"/>
            </a:xfrm>
            <a:prstGeom prst="line">
              <a:avLst/>
            </a:prstGeom>
            <a:ln w="285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D8D95BB-0D12-BC78-56E8-3621D428902A}"/>
                </a:ext>
              </a:extLst>
            </p:cNvPr>
            <p:cNvCxnSpPr>
              <a:cxnSpLocks/>
            </p:cNvCxnSpPr>
            <p:nvPr/>
          </p:nvCxnSpPr>
          <p:spPr>
            <a:xfrm>
              <a:off x="3367498" y="4736467"/>
              <a:ext cx="7166390" cy="0"/>
            </a:xfrm>
            <a:prstGeom prst="line">
              <a:avLst/>
            </a:prstGeom>
            <a:ln w="285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D829F71-2D81-068C-6E79-55DD035F36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67498" y="3331464"/>
              <a:ext cx="0" cy="1405003"/>
            </a:xfrm>
            <a:prstGeom prst="line">
              <a:avLst/>
            </a:prstGeom>
            <a:ln w="285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FDA412C-A9D3-25A2-29F3-F9D6F84623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54769" y="3331464"/>
              <a:ext cx="0" cy="2233781"/>
            </a:xfrm>
            <a:prstGeom prst="line">
              <a:avLst/>
            </a:prstGeom>
            <a:ln w="285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8898917-3A79-A31A-2D97-54599BBFD5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54769" y="3344129"/>
              <a:ext cx="1112729" cy="0"/>
            </a:xfrm>
            <a:prstGeom prst="line">
              <a:avLst/>
            </a:prstGeom>
            <a:ln w="285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1EA0D6C-B223-83AB-F599-03824B3271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67498" y="4736467"/>
              <a:ext cx="0" cy="1012692"/>
            </a:xfrm>
            <a:prstGeom prst="line">
              <a:avLst/>
            </a:prstGeom>
            <a:ln w="571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62C1AF6-F84D-C49D-4232-E2ECC3E573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79539" y="5749159"/>
              <a:ext cx="0" cy="413188"/>
            </a:xfrm>
            <a:prstGeom prst="line">
              <a:avLst/>
            </a:prstGeom>
            <a:ln w="571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5D3F024-081E-841E-D675-4361FFAD10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533888" y="4736467"/>
              <a:ext cx="0" cy="931610"/>
            </a:xfrm>
            <a:prstGeom prst="line">
              <a:avLst/>
            </a:prstGeom>
            <a:ln w="285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C01799CD-9C8A-5252-315D-8D21F832857D}"/>
                </a:ext>
              </a:extLst>
            </p:cNvPr>
            <p:cNvCxnSpPr>
              <a:cxnSpLocks/>
            </p:cNvCxnSpPr>
            <p:nvPr/>
          </p:nvCxnSpPr>
          <p:spPr>
            <a:xfrm>
              <a:off x="2254769" y="4129741"/>
              <a:ext cx="1112729" cy="0"/>
            </a:xfrm>
            <a:prstGeom prst="line">
              <a:avLst/>
            </a:prstGeom>
            <a:ln w="28575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DDF95888-5E5B-428B-A3D5-D5D08EEA9C79}"/>
                </a:ext>
              </a:extLst>
            </p:cNvPr>
            <p:cNvCxnSpPr>
              <a:cxnSpLocks/>
            </p:cNvCxnSpPr>
            <p:nvPr/>
          </p:nvCxnSpPr>
          <p:spPr>
            <a:xfrm>
              <a:off x="4649670" y="5887570"/>
              <a:ext cx="1860332" cy="0"/>
            </a:xfrm>
            <a:prstGeom prst="line">
              <a:avLst/>
            </a:prstGeom>
            <a:ln w="28575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F1865E88-425B-AEBB-B19C-CA6F9DA095E1}"/>
                </a:ext>
              </a:extLst>
            </p:cNvPr>
            <p:cNvSpPr/>
            <p:nvPr/>
          </p:nvSpPr>
          <p:spPr>
            <a:xfrm>
              <a:off x="3351460" y="5749159"/>
              <a:ext cx="1325680" cy="147261"/>
            </a:xfrm>
            <a:custGeom>
              <a:avLst/>
              <a:gdLst>
                <a:gd name="connsiteX0" fmla="*/ 0 w 1325680"/>
                <a:gd name="connsiteY0" fmla="*/ 0 h 147261"/>
                <a:gd name="connsiteX1" fmla="*/ 367357 w 1325680"/>
                <a:gd name="connsiteY1" fmla="*/ 135762 h 147261"/>
                <a:gd name="connsiteX2" fmla="*/ 1325680 w 1325680"/>
                <a:gd name="connsiteY2" fmla="*/ 139755 h 147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25680" h="147261">
                  <a:moveTo>
                    <a:pt x="0" y="0"/>
                  </a:moveTo>
                  <a:cubicBezTo>
                    <a:pt x="73205" y="56234"/>
                    <a:pt x="146410" y="112469"/>
                    <a:pt x="367357" y="135762"/>
                  </a:cubicBezTo>
                  <a:cubicBezTo>
                    <a:pt x="588304" y="159055"/>
                    <a:pt x="1325680" y="139755"/>
                    <a:pt x="1325680" y="139755"/>
                  </a:cubicBezTo>
                </a:path>
              </a:pathLst>
            </a:custGeom>
            <a:noFill/>
            <a:ln w="28575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FCDBE607-937A-B94C-4EAC-3D85578D3299}"/>
                </a:ext>
              </a:extLst>
            </p:cNvPr>
            <p:cNvCxnSpPr>
              <a:cxnSpLocks/>
              <a:stCxn id="56" idx="4"/>
            </p:cNvCxnSpPr>
            <p:nvPr/>
          </p:nvCxnSpPr>
          <p:spPr>
            <a:xfrm flipV="1">
              <a:off x="7704766" y="5242813"/>
              <a:ext cx="1774773" cy="108"/>
            </a:xfrm>
            <a:prstGeom prst="line">
              <a:avLst/>
            </a:prstGeom>
            <a:ln w="28575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D5CF0242-BC71-129E-36A8-7398B22B18C2}"/>
                </a:ext>
              </a:extLst>
            </p:cNvPr>
            <p:cNvSpPr/>
            <p:nvPr/>
          </p:nvSpPr>
          <p:spPr>
            <a:xfrm>
              <a:off x="6510001" y="5242921"/>
              <a:ext cx="1194765" cy="644649"/>
            </a:xfrm>
            <a:custGeom>
              <a:avLst/>
              <a:gdLst>
                <a:gd name="connsiteX0" fmla="*/ 0 w 1195754"/>
                <a:gd name="connsiteY0" fmla="*/ 638457 h 638457"/>
                <a:gd name="connsiteX1" fmla="*/ 292175 w 1195754"/>
                <a:gd name="connsiteY1" fmla="*/ 568118 h 638457"/>
                <a:gd name="connsiteX2" fmla="*/ 611404 w 1195754"/>
                <a:gd name="connsiteY2" fmla="*/ 221836 h 638457"/>
                <a:gd name="connsiteX3" fmla="*/ 941453 w 1195754"/>
                <a:gd name="connsiteY3" fmla="*/ 32464 h 638457"/>
                <a:gd name="connsiteX4" fmla="*/ 1195754 w 1195754"/>
                <a:gd name="connsiteY4" fmla="*/ 0 h 6384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95754" h="638457">
                  <a:moveTo>
                    <a:pt x="0" y="638457"/>
                  </a:moveTo>
                  <a:cubicBezTo>
                    <a:pt x="95137" y="638006"/>
                    <a:pt x="190274" y="637555"/>
                    <a:pt x="292175" y="568118"/>
                  </a:cubicBezTo>
                  <a:cubicBezTo>
                    <a:pt x="394076" y="498681"/>
                    <a:pt x="503191" y="311112"/>
                    <a:pt x="611404" y="221836"/>
                  </a:cubicBezTo>
                  <a:cubicBezTo>
                    <a:pt x="719617" y="132560"/>
                    <a:pt x="844061" y="69437"/>
                    <a:pt x="941453" y="32464"/>
                  </a:cubicBezTo>
                  <a:cubicBezTo>
                    <a:pt x="1038845" y="-4509"/>
                    <a:pt x="1091148" y="5411"/>
                    <a:pt x="1195754" y="0"/>
                  </a:cubicBezTo>
                </a:path>
              </a:pathLst>
            </a:custGeom>
            <a:noFill/>
            <a:ln w="28575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37F42143-E5F4-E111-3AF1-C60F050F004E}"/>
                </a:ext>
              </a:extLst>
            </p:cNvPr>
            <p:cNvCxnSpPr>
              <a:cxnSpLocks/>
              <a:stCxn id="63" idx="3"/>
            </p:cNvCxnSpPr>
            <p:nvPr/>
          </p:nvCxnSpPr>
          <p:spPr>
            <a:xfrm>
              <a:off x="9764341" y="5419841"/>
              <a:ext cx="769547" cy="2440"/>
            </a:xfrm>
            <a:prstGeom prst="line">
              <a:avLst/>
            </a:prstGeom>
            <a:ln w="28575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46D3AF2C-9B2C-408F-591A-BA40C87B00EA}"/>
                </a:ext>
              </a:extLst>
            </p:cNvPr>
            <p:cNvSpPr/>
            <p:nvPr/>
          </p:nvSpPr>
          <p:spPr>
            <a:xfrm>
              <a:off x="9462733" y="5242706"/>
              <a:ext cx="301608" cy="179575"/>
            </a:xfrm>
            <a:custGeom>
              <a:avLst/>
              <a:gdLst>
                <a:gd name="connsiteX0" fmla="*/ 0 w 301608"/>
                <a:gd name="connsiteY0" fmla="*/ 0 h 179575"/>
                <a:gd name="connsiteX1" fmla="*/ 119686 w 301608"/>
                <a:gd name="connsiteY1" fmla="*/ 52662 h 179575"/>
                <a:gd name="connsiteX2" fmla="*/ 210647 w 301608"/>
                <a:gd name="connsiteY2" fmla="*/ 167560 h 179575"/>
                <a:gd name="connsiteX3" fmla="*/ 301608 w 301608"/>
                <a:gd name="connsiteY3" fmla="*/ 177135 h 179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1608" h="179575">
                  <a:moveTo>
                    <a:pt x="0" y="0"/>
                  </a:moveTo>
                  <a:cubicBezTo>
                    <a:pt x="42289" y="12367"/>
                    <a:pt x="84578" y="24735"/>
                    <a:pt x="119686" y="52662"/>
                  </a:cubicBezTo>
                  <a:cubicBezTo>
                    <a:pt x="154794" y="80589"/>
                    <a:pt x="180327" y="146815"/>
                    <a:pt x="210647" y="167560"/>
                  </a:cubicBezTo>
                  <a:cubicBezTo>
                    <a:pt x="240967" y="188305"/>
                    <a:pt x="179529" y="175539"/>
                    <a:pt x="301608" y="177135"/>
                  </a:cubicBezTo>
                </a:path>
              </a:pathLst>
            </a:custGeom>
            <a:noFill/>
            <a:ln w="28575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Triangle 64">
              <a:extLst>
                <a:ext uri="{FF2B5EF4-FFF2-40B4-BE49-F238E27FC236}">
                  <a16:creationId xmlns:a16="http://schemas.microsoft.com/office/drawing/2014/main" id="{BDB81825-146D-00A3-8447-7D7AABD99B7A}"/>
                </a:ext>
              </a:extLst>
            </p:cNvPr>
            <p:cNvSpPr/>
            <p:nvPr/>
          </p:nvSpPr>
          <p:spPr>
            <a:xfrm rot="10800000">
              <a:off x="2459755" y="4015407"/>
              <a:ext cx="149301" cy="103627"/>
            </a:xfrm>
            <a:prstGeom prst="triangle">
              <a:avLst/>
            </a:pr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CA9207D7-4EBA-92F1-413D-424A6DE6CB24}"/>
                </a:ext>
              </a:extLst>
            </p:cNvPr>
            <p:cNvSpPr/>
            <p:nvPr/>
          </p:nvSpPr>
          <p:spPr>
            <a:xfrm rot="10800000">
              <a:off x="3959499" y="5780597"/>
              <a:ext cx="149301" cy="103343"/>
            </a:xfrm>
            <a:prstGeom prst="triangle">
              <a:avLst/>
            </a:pr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riangle 66">
              <a:extLst>
                <a:ext uri="{FF2B5EF4-FFF2-40B4-BE49-F238E27FC236}">
                  <a16:creationId xmlns:a16="http://schemas.microsoft.com/office/drawing/2014/main" id="{AF13D2B3-E59B-97E5-0CAD-7F4DB4DD63B6}"/>
                </a:ext>
              </a:extLst>
            </p:cNvPr>
            <p:cNvSpPr/>
            <p:nvPr/>
          </p:nvSpPr>
          <p:spPr>
            <a:xfrm rot="10800000">
              <a:off x="7835413" y="5136437"/>
              <a:ext cx="149301" cy="93157"/>
            </a:xfrm>
            <a:prstGeom prst="triangle">
              <a:avLst/>
            </a:pr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gular Pentagon 67">
              <a:extLst>
                <a:ext uri="{FF2B5EF4-FFF2-40B4-BE49-F238E27FC236}">
                  <a16:creationId xmlns:a16="http://schemas.microsoft.com/office/drawing/2014/main" id="{4F00517E-AEAC-6C96-0C77-14555F2193B4}"/>
                </a:ext>
              </a:extLst>
            </p:cNvPr>
            <p:cNvSpPr/>
            <p:nvPr/>
          </p:nvSpPr>
          <p:spPr>
            <a:xfrm rot="2125004">
              <a:off x="2659972" y="3238178"/>
              <a:ext cx="302322" cy="272245"/>
            </a:xfrm>
            <a:prstGeom prst="pentagon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gular Pentagon 68">
              <a:extLst>
                <a:ext uri="{FF2B5EF4-FFF2-40B4-BE49-F238E27FC236}">
                  <a16:creationId xmlns:a16="http://schemas.microsoft.com/office/drawing/2014/main" id="{28DAA753-79AA-E8F9-9919-8F4998F7A2F0}"/>
                </a:ext>
              </a:extLst>
            </p:cNvPr>
            <p:cNvSpPr/>
            <p:nvPr/>
          </p:nvSpPr>
          <p:spPr>
            <a:xfrm rot="2125004">
              <a:off x="4643664" y="4536610"/>
              <a:ext cx="302322" cy="272245"/>
            </a:xfrm>
            <a:prstGeom prst="pentagon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gular Pentagon 69">
              <a:extLst>
                <a:ext uri="{FF2B5EF4-FFF2-40B4-BE49-F238E27FC236}">
                  <a16:creationId xmlns:a16="http://schemas.microsoft.com/office/drawing/2014/main" id="{17B8F875-2560-3235-BFDF-1E16AFA8C840}"/>
                </a:ext>
              </a:extLst>
            </p:cNvPr>
            <p:cNvSpPr/>
            <p:nvPr/>
          </p:nvSpPr>
          <p:spPr>
            <a:xfrm rot="2125004">
              <a:off x="8340337" y="4536612"/>
              <a:ext cx="302322" cy="272245"/>
            </a:xfrm>
            <a:prstGeom prst="pentagon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9ED195A9-8FFF-6D68-35CE-8F18D6E1C89F}"/>
                </a:ext>
              </a:extLst>
            </p:cNvPr>
            <p:cNvCxnSpPr>
              <a:cxnSpLocks/>
              <a:stCxn id="68" idx="4"/>
            </p:cNvCxnSpPr>
            <p:nvPr/>
          </p:nvCxnSpPr>
          <p:spPr>
            <a:xfrm>
              <a:off x="2808383" y="3539374"/>
              <a:ext cx="2063" cy="590367"/>
            </a:xfrm>
            <a:prstGeom prst="line">
              <a:avLst/>
            </a:prstGeom>
            <a:ln w="38100">
              <a:solidFill>
                <a:srgbClr val="C00000">
                  <a:alpha val="48565"/>
                </a:srgbClr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13C478A8-68D4-40A9-946E-A6DAA721F357}"/>
                </a:ext>
              </a:extLst>
            </p:cNvPr>
            <p:cNvCxnSpPr>
              <a:cxnSpLocks/>
            </p:cNvCxnSpPr>
            <p:nvPr/>
          </p:nvCxnSpPr>
          <p:spPr>
            <a:xfrm>
              <a:off x="4789964" y="4859040"/>
              <a:ext cx="1032" cy="1008123"/>
            </a:xfrm>
            <a:prstGeom prst="line">
              <a:avLst/>
            </a:prstGeom>
            <a:ln w="38100">
              <a:solidFill>
                <a:srgbClr val="C00000">
                  <a:alpha val="48565"/>
                </a:srgbClr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50CA631E-9B9B-AEBB-7F7A-9D0D138B4498}"/>
                </a:ext>
              </a:extLst>
            </p:cNvPr>
            <p:cNvCxnSpPr>
              <a:cxnSpLocks/>
            </p:cNvCxnSpPr>
            <p:nvPr/>
          </p:nvCxnSpPr>
          <p:spPr>
            <a:xfrm>
              <a:off x="8490466" y="4859040"/>
              <a:ext cx="0" cy="383666"/>
            </a:xfrm>
            <a:prstGeom prst="line">
              <a:avLst/>
            </a:prstGeom>
            <a:ln w="38100">
              <a:solidFill>
                <a:srgbClr val="C00000">
                  <a:alpha val="48565"/>
                </a:srgbClr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FE3D0911-EAC7-38FC-7B2D-38D7B13F9C54}"/>
                </a:ext>
              </a:extLst>
            </p:cNvPr>
            <p:cNvSpPr/>
            <p:nvPr/>
          </p:nvSpPr>
          <p:spPr>
            <a:xfrm>
              <a:off x="7131802" y="5502938"/>
              <a:ext cx="190851" cy="165139"/>
            </a:xfrm>
            <a:custGeom>
              <a:avLst/>
              <a:gdLst>
                <a:gd name="connsiteX0" fmla="*/ 69981 w 503444"/>
                <a:gd name="connsiteY0" fmla="*/ 0 h 407268"/>
                <a:gd name="connsiteX1" fmla="*/ 10748 w 503444"/>
                <a:gd name="connsiteY1" fmla="*/ 236930 h 407268"/>
                <a:gd name="connsiteX2" fmla="*/ 262486 w 503444"/>
                <a:gd name="connsiteY2" fmla="*/ 407223 h 407268"/>
                <a:gd name="connsiteX3" fmla="*/ 495713 w 503444"/>
                <a:gd name="connsiteY3" fmla="*/ 251738 h 407268"/>
                <a:gd name="connsiteX4" fmla="*/ 425375 w 503444"/>
                <a:gd name="connsiteY4" fmla="*/ 44425 h 407268"/>
                <a:gd name="connsiteX5" fmla="*/ 206956 w 503444"/>
                <a:gd name="connsiteY5" fmla="*/ 70339 h 407268"/>
                <a:gd name="connsiteX6" fmla="*/ 173637 w 503444"/>
                <a:gd name="connsiteY6" fmla="*/ 144379 h 407268"/>
                <a:gd name="connsiteX7" fmla="*/ 181041 w 503444"/>
                <a:gd name="connsiteY7" fmla="*/ 262844 h 407268"/>
                <a:gd name="connsiteX8" fmla="*/ 343930 w 503444"/>
                <a:gd name="connsiteY8" fmla="*/ 192506 h 407268"/>
                <a:gd name="connsiteX9" fmla="*/ 288400 w 503444"/>
                <a:gd name="connsiteY9" fmla="*/ 155485 h 40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03444" h="407268">
                  <a:moveTo>
                    <a:pt x="69981" y="0"/>
                  </a:moveTo>
                  <a:cubicBezTo>
                    <a:pt x="24322" y="84530"/>
                    <a:pt x="-21336" y="169060"/>
                    <a:pt x="10748" y="236930"/>
                  </a:cubicBezTo>
                  <a:cubicBezTo>
                    <a:pt x="42832" y="304800"/>
                    <a:pt x="181659" y="404755"/>
                    <a:pt x="262486" y="407223"/>
                  </a:cubicBezTo>
                  <a:cubicBezTo>
                    <a:pt x="343313" y="409691"/>
                    <a:pt x="468565" y="312204"/>
                    <a:pt x="495713" y="251738"/>
                  </a:cubicBezTo>
                  <a:cubicBezTo>
                    <a:pt x="522861" y="191272"/>
                    <a:pt x="473501" y="74658"/>
                    <a:pt x="425375" y="44425"/>
                  </a:cubicBezTo>
                  <a:cubicBezTo>
                    <a:pt x="377249" y="14192"/>
                    <a:pt x="248912" y="53680"/>
                    <a:pt x="206956" y="70339"/>
                  </a:cubicBezTo>
                  <a:cubicBezTo>
                    <a:pt x="165000" y="86998"/>
                    <a:pt x="177956" y="112295"/>
                    <a:pt x="173637" y="144379"/>
                  </a:cubicBezTo>
                  <a:cubicBezTo>
                    <a:pt x="169318" y="176463"/>
                    <a:pt x="152659" y="254823"/>
                    <a:pt x="181041" y="262844"/>
                  </a:cubicBezTo>
                  <a:cubicBezTo>
                    <a:pt x="209423" y="270865"/>
                    <a:pt x="326037" y="210399"/>
                    <a:pt x="343930" y="192506"/>
                  </a:cubicBezTo>
                  <a:cubicBezTo>
                    <a:pt x="361823" y="174613"/>
                    <a:pt x="302591" y="156102"/>
                    <a:pt x="288400" y="155485"/>
                  </a:cubicBezTo>
                </a:path>
              </a:pathLst>
            </a:cu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7F20C2A3-9330-A4EE-507F-636BDAEBC75B}"/>
                </a:ext>
              </a:extLst>
            </p:cNvPr>
            <p:cNvSpPr/>
            <p:nvPr/>
          </p:nvSpPr>
          <p:spPr>
            <a:xfrm rot="5203966">
              <a:off x="7341523" y="5366837"/>
              <a:ext cx="190851" cy="165139"/>
            </a:xfrm>
            <a:custGeom>
              <a:avLst/>
              <a:gdLst>
                <a:gd name="connsiteX0" fmla="*/ 69981 w 503444"/>
                <a:gd name="connsiteY0" fmla="*/ 0 h 407268"/>
                <a:gd name="connsiteX1" fmla="*/ 10748 w 503444"/>
                <a:gd name="connsiteY1" fmla="*/ 236930 h 407268"/>
                <a:gd name="connsiteX2" fmla="*/ 262486 w 503444"/>
                <a:gd name="connsiteY2" fmla="*/ 407223 h 407268"/>
                <a:gd name="connsiteX3" fmla="*/ 495713 w 503444"/>
                <a:gd name="connsiteY3" fmla="*/ 251738 h 407268"/>
                <a:gd name="connsiteX4" fmla="*/ 425375 w 503444"/>
                <a:gd name="connsiteY4" fmla="*/ 44425 h 407268"/>
                <a:gd name="connsiteX5" fmla="*/ 206956 w 503444"/>
                <a:gd name="connsiteY5" fmla="*/ 70339 h 407268"/>
                <a:gd name="connsiteX6" fmla="*/ 173637 w 503444"/>
                <a:gd name="connsiteY6" fmla="*/ 144379 h 407268"/>
                <a:gd name="connsiteX7" fmla="*/ 181041 w 503444"/>
                <a:gd name="connsiteY7" fmla="*/ 262844 h 407268"/>
                <a:gd name="connsiteX8" fmla="*/ 343930 w 503444"/>
                <a:gd name="connsiteY8" fmla="*/ 192506 h 407268"/>
                <a:gd name="connsiteX9" fmla="*/ 288400 w 503444"/>
                <a:gd name="connsiteY9" fmla="*/ 155485 h 40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03444" h="407268">
                  <a:moveTo>
                    <a:pt x="69981" y="0"/>
                  </a:moveTo>
                  <a:cubicBezTo>
                    <a:pt x="24322" y="84530"/>
                    <a:pt x="-21336" y="169060"/>
                    <a:pt x="10748" y="236930"/>
                  </a:cubicBezTo>
                  <a:cubicBezTo>
                    <a:pt x="42832" y="304800"/>
                    <a:pt x="181659" y="404755"/>
                    <a:pt x="262486" y="407223"/>
                  </a:cubicBezTo>
                  <a:cubicBezTo>
                    <a:pt x="343313" y="409691"/>
                    <a:pt x="468565" y="312204"/>
                    <a:pt x="495713" y="251738"/>
                  </a:cubicBezTo>
                  <a:cubicBezTo>
                    <a:pt x="522861" y="191272"/>
                    <a:pt x="473501" y="74658"/>
                    <a:pt x="425375" y="44425"/>
                  </a:cubicBezTo>
                  <a:cubicBezTo>
                    <a:pt x="377249" y="14192"/>
                    <a:pt x="248912" y="53680"/>
                    <a:pt x="206956" y="70339"/>
                  </a:cubicBezTo>
                  <a:cubicBezTo>
                    <a:pt x="165000" y="86998"/>
                    <a:pt x="177956" y="112295"/>
                    <a:pt x="173637" y="144379"/>
                  </a:cubicBezTo>
                  <a:cubicBezTo>
                    <a:pt x="169318" y="176463"/>
                    <a:pt x="152659" y="254823"/>
                    <a:pt x="181041" y="262844"/>
                  </a:cubicBezTo>
                  <a:cubicBezTo>
                    <a:pt x="209423" y="270865"/>
                    <a:pt x="326037" y="210399"/>
                    <a:pt x="343930" y="192506"/>
                  </a:cubicBezTo>
                  <a:cubicBezTo>
                    <a:pt x="361823" y="174613"/>
                    <a:pt x="302591" y="156102"/>
                    <a:pt x="288400" y="155485"/>
                  </a:cubicBezTo>
                </a:path>
              </a:pathLst>
            </a:cu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F6FBA395-6E0E-713B-85C8-1D31C9CDF84D}"/>
                </a:ext>
              </a:extLst>
            </p:cNvPr>
            <p:cNvSpPr/>
            <p:nvPr/>
          </p:nvSpPr>
          <p:spPr>
            <a:xfrm rot="17958055">
              <a:off x="6961708" y="5699562"/>
              <a:ext cx="190851" cy="165139"/>
            </a:xfrm>
            <a:custGeom>
              <a:avLst/>
              <a:gdLst>
                <a:gd name="connsiteX0" fmla="*/ 69981 w 503444"/>
                <a:gd name="connsiteY0" fmla="*/ 0 h 407268"/>
                <a:gd name="connsiteX1" fmla="*/ 10748 w 503444"/>
                <a:gd name="connsiteY1" fmla="*/ 236930 h 407268"/>
                <a:gd name="connsiteX2" fmla="*/ 262486 w 503444"/>
                <a:gd name="connsiteY2" fmla="*/ 407223 h 407268"/>
                <a:gd name="connsiteX3" fmla="*/ 495713 w 503444"/>
                <a:gd name="connsiteY3" fmla="*/ 251738 h 407268"/>
                <a:gd name="connsiteX4" fmla="*/ 425375 w 503444"/>
                <a:gd name="connsiteY4" fmla="*/ 44425 h 407268"/>
                <a:gd name="connsiteX5" fmla="*/ 206956 w 503444"/>
                <a:gd name="connsiteY5" fmla="*/ 70339 h 407268"/>
                <a:gd name="connsiteX6" fmla="*/ 173637 w 503444"/>
                <a:gd name="connsiteY6" fmla="*/ 144379 h 407268"/>
                <a:gd name="connsiteX7" fmla="*/ 181041 w 503444"/>
                <a:gd name="connsiteY7" fmla="*/ 262844 h 407268"/>
                <a:gd name="connsiteX8" fmla="*/ 343930 w 503444"/>
                <a:gd name="connsiteY8" fmla="*/ 192506 h 407268"/>
                <a:gd name="connsiteX9" fmla="*/ 288400 w 503444"/>
                <a:gd name="connsiteY9" fmla="*/ 155485 h 40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03444" h="407268">
                  <a:moveTo>
                    <a:pt x="69981" y="0"/>
                  </a:moveTo>
                  <a:cubicBezTo>
                    <a:pt x="24322" y="84530"/>
                    <a:pt x="-21336" y="169060"/>
                    <a:pt x="10748" y="236930"/>
                  </a:cubicBezTo>
                  <a:cubicBezTo>
                    <a:pt x="42832" y="304800"/>
                    <a:pt x="181659" y="404755"/>
                    <a:pt x="262486" y="407223"/>
                  </a:cubicBezTo>
                  <a:cubicBezTo>
                    <a:pt x="343313" y="409691"/>
                    <a:pt x="468565" y="312204"/>
                    <a:pt x="495713" y="251738"/>
                  </a:cubicBezTo>
                  <a:cubicBezTo>
                    <a:pt x="522861" y="191272"/>
                    <a:pt x="473501" y="74658"/>
                    <a:pt x="425375" y="44425"/>
                  </a:cubicBezTo>
                  <a:cubicBezTo>
                    <a:pt x="377249" y="14192"/>
                    <a:pt x="248912" y="53680"/>
                    <a:pt x="206956" y="70339"/>
                  </a:cubicBezTo>
                  <a:cubicBezTo>
                    <a:pt x="165000" y="86998"/>
                    <a:pt x="177956" y="112295"/>
                    <a:pt x="173637" y="144379"/>
                  </a:cubicBezTo>
                  <a:cubicBezTo>
                    <a:pt x="169318" y="176463"/>
                    <a:pt x="152659" y="254823"/>
                    <a:pt x="181041" y="262844"/>
                  </a:cubicBezTo>
                  <a:cubicBezTo>
                    <a:pt x="209423" y="270865"/>
                    <a:pt x="326037" y="210399"/>
                    <a:pt x="343930" y="192506"/>
                  </a:cubicBezTo>
                  <a:cubicBezTo>
                    <a:pt x="361823" y="174613"/>
                    <a:pt x="302591" y="156102"/>
                    <a:pt x="288400" y="155485"/>
                  </a:cubicBezTo>
                </a:path>
              </a:pathLst>
            </a:cu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28A61DA6-9B31-B4B4-30DA-6BCB6C0AF0F5}"/>
                </a:ext>
              </a:extLst>
            </p:cNvPr>
            <p:cNvSpPr/>
            <p:nvPr/>
          </p:nvSpPr>
          <p:spPr>
            <a:xfrm rot="13496133">
              <a:off x="7240438" y="5715837"/>
              <a:ext cx="190851" cy="165139"/>
            </a:xfrm>
            <a:custGeom>
              <a:avLst/>
              <a:gdLst>
                <a:gd name="connsiteX0" fmla="*/ 69981 w 503444"/>
                <a:gd name="connsiteY0" fmla="*/ 0 h 407268"/>
                <a:gd name="connsiteX1" fmla="*/ 10748 w 503444"/>
                <a:gd name="connsiteY1" fmla="*/ 236930 h 407268"/>
                <a:gd name="connsiteX2" fmla="*/ 262486 w 503444"/>
                <a:gd name="connsiteY2" fmla="*/ 407223 h 407268"/>
                <a:gd name="connsiteX3" fmla="*/ 495713 w 503444"/>
                <a:gd name="connsiteY3" fmla="*/ 251738 h 407268"/>
                <a:gd name="connsiteX4" fmla="*/ 425375 w 503444"/>
                <a:gd name="connsiteY4" fmla="*/ 44425 h 407268"/>
                <a:gd name="connsiteX5" fmla="*/ 206956 w 503444"/>
                <a:gd name="connsiteY5" fmla="*/ 70339 h 407268"/>
                <a:gd name="connsiteX6" fmla="*/ 173637 w 503444"/>
                <a:gd name="connsiteY6" fmla="*/ 144379 h 407268"/>
                <a:gd name="connsiteX7" fmla="*/ 181041 w 503444"/>
                <a:gd name="connsiteY7" fmla="*/ 262844 h 407268"/>
                <a:gd name="connsiteX8" fmla="*/ 343930 w 503444"/>
                <a:gd name="connsiteY8" fmla="*/ 192506 h 407268"/>
                <a:gd name="connsiteX9" fmla="*/ 288400 w 503444"/>
                <a:gd name="connsiteY9" fmla="*/ 155485 h 40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03444" h="407268">
                  <a:moveTo>
                    <a:pt x="69981" y="0"/>
                  </a:moveTo>
                  <a:cubicBezTo>
                    <a:pt x="24322" y="84530"/>
                    <a:pt x="-21336" y="169060"/>
                    <a:pt x="10748" y="236930"/>
                  </a:cubicBezTo>
                  <a:cubicBezTo>
                    <a:pt x="42832" y="304800"/>
                    <a:pt x="181659" y="404755"/>
                    <a:pt x="262486" y="407223"/>
                  </a:cubicBezTo>
                  <a:cubicBezTo>
                    <a:pt x="343313" y="409691"/>
                    <a:pt x="468565" y="312204"/>
                    <a:pt x="495713" y="251738"/>
                  </a:cubicBezTo>
                  <a:cubicBezTo>
                    <a:pt x="522861" y="191272"/>
                    <a:pt x="473501" y="74658"/>
                    <a:pt x="425375" y="44425"/>
                  </a:cubicBezTo>
                  <a:cubicBezTo>
                    <a:pt x="377249" y="14192"/>
                    <a:pt x="248912" y="53680"/>
                    <a:pt x="206956" y="70339"/>
                  </a:cubicBezTo>
                  <a:cubicBezTo>
                    <a:pt x="165000" y="86998"/>
                    <a:pt x="177956" y="112295"/>
                    <a:pt x="173637" y="144379"/>
                  </a:cubicBezTo>
                  <a:cubicBezTo>
                    <a:pt x="169318" y="176463"/>
                    <a:pt x="152659" y="254823"/>
                    <a:pt x="181041" y="262844"/>
                  </a:cubicBezTo>
                  <a:cubicBezTo>
                    <a:pt x="209423" y="270865"/>
                    <a:pt x="326037" y="210399"/>
                    <a:pt x="343930" y="192506"/>
                  </a:cubicBezTo>
                  <a:cubicBezTo>
                    <a:pt x="361823" y="174613"/>
                    <a:pt x="302591" y="156102"/>
                    <a:pt x="288400" y="155485"/>
                  </a:cubicBezTo>
                </a:path>
              </a:pathLst>
            </a:cu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24206BEA-37B4-10C0-53A8-3FAFC377D051}"/>
                </a:ext>
              </a:extLst>
            </p:cNvPr>
            <p:cNvSpPr txBox="1"/>
            <p:nvPr/>
          </p:nvSpPr>
          <p:spPr>
            <a:xfrm>
              <a:off x="2087818" y="2721388"/>
              <a:ext cx="144112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Bay side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599F929A-BE97-0E85-E262-9553B1DE1D36}"/>
                </a:ext>
              </a:extLst>
            </p:cNvPr>
            <p:cNvSpPr txBox="1"/>
            <p:nvPr/>
          </p:nvSpPr>
          <p:spPr>
            <a:xfrm>
              <a:off x="7732577" y="3932554"/>
              <a:ext cx="15157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River side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F84E6282-0AC0-23B7-B17C-6798705DAC55}"/>
                </a:ext>
              </a:extLst>
            </p:cNvPr>
            <p:cNvSpPr txBox="1"/>
            <p:nvPr/>
          </p:nvSpPr>
          <p:spPr>
            <a:xfrm>
              <a:off x="3449535" y="4960012"/>
              <a:ext cx="102127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chemeClr val="accent1"/>
                  </a:solidFill>
                </a:rPr>
                <a:t>Fixed</a:t>
              </a:r>
              <a:r>
                <a:rPr lang="en-US" sz="1400" dirty="0"/>
                <a:t> </a:t>
              </a:r>
              <a:r>
                <a:rPr lang="en-US" sz="1400" dirty="0">
                  <a:solidFill>
                    <a:schemeClr val="accent1"/>
                  </a:solidFill>
                </a:rPr>
                <a:t>sluicegate</a:t>
              </a:r>
            </a:p>
          </p:txBody>
        </p: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6C2879B0-69CE-F267-1C42-1694A31A52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79331" y="5117169"/>
              <a:ext cx="41822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6ECCD60-10FA-1C18-BBCF-8849377E4E25}"/>
                </a:ext>
              </a:extLst>
            </p:cNvPr>
            <p:cNvSpPr txBox="1"/>
            <p:nvPr/>
          </p:nvSpPr>
          <p:spPr>
            <a:xfrm>
              <a:off x="8516084" y="5639127"/>
              <a:ext cx="61206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accent1"/>
                  </a:solidFill>
                </a:rPr>
                <a:t>Fixed</a:t>
              </a:r>
              <a:r>
                <a:rPr lang="en-US" sz="1400" dirty="0"/>
                <a:t> </a:t>
              </a:r>
              <a:r>
                <a:rPr lang="en-US" sz="1400" dirty="0">
                  <a:solidFill>
                    <a:schemeClr val="accent1"/>
                  </a:solidFill>
                </a:rPr>
                <a:t>weir</a:t>
              </a:r>
            </a:p>
          </p:txBody>
        </p: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04E0D044-7CDD-5B13-0F43-1DED088952B0}"/>
                </a:ext>
              </a:extLst>
            </p:cNvPr>
            <p:cNvCxnSpPr>
              <a:cxnSpLocks/>
            </p:cNvCxnSpPr>
            <p:nvPr/>
          </p:nvCxnSpPr>
          <p:spPr>
            <a:xfrm>
              <a:off x="9059653" y="5798406"/>
              <a:ext cx="31704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B582142-9733-4844-A57E-B41738D2A745}"/>
                </a:ext>
              </a:extLst>
            </p:cNvPr>
            <p:cNvSpPr txBox="1"/>
            <p:nvPr/>
          </p:nvSpPr>
          <p:spPr>
            <a:xfrm>
              <a:off x="2254769" y="6246547"/>
              <a:ext cx="102127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00B0F0"/>
                  </a:solidFill>
                </a:rPr>
                <a:t>Head tank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0C95ED1E-1697-527F-3AFF-D8E085DCAE3B}"/>
                </a:ext>
              </a:extLst>
            </p:cNvPr>
            <p:cNvSpPr txBox="1"/>
            <p:nvPr/>
          </p:nvSpPr>
          <p:spPr>
            <a:xfrm>
              <a:off x="4259119" y="6260360"/>
              <a:ext cx="173270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00B0F0"/>
                  </a:solidFill>
                </a:rPr>
                <a:t>Supercritical region</a:t>
              </a: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6CF37683-E3AE-0668-D30B-EA6FE541F708}"/>
                </a:ext>
              </a:extLst>
            </p:cNvPr>
            <p:cNvSpPr txBox="1"/>
            <p:nvPr/>
          </p:nvSpPr>
          <p:spPr>
            <a:xfrm>
              <a:off x="7480491" y="6283234"/>
              <a:ext cx="173270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00B0F0"/>
                  </a:solidFill>
                </a:rPr>
                <a:t>Subcritical region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9A74941F-7FE3-F5C4-AB2C-072CB175D681}"/>
                </a:ext>
              </a:extLst>
            </p:cNvPr>
            <p:cNvSpPr txBox="1"/>
            <p:nvPr/>
          </p:nvSpPr>
          <p:spPr>
            <a:xfrm>
              <a:off x="9479539" y="6286201"/>
              <a:ext cx="124775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00B0F0"/>
                  </a:solidFill>
                </a:rPr>
                <a:t>Tailwater tank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7B03789E-81DA-94F8-191D-89A9546ACADE}"/>
                </a:ext>
              </a:extLst>
            </p:cNvPr>
            <p:cNvSpPr txBox="1"/>
            <p:nvPr/>
          </p:nvSpPr>
          <p:spPr>
            <a:xfrm>
              <a:off x="3829684" y="3932555"/>
              <a:ext cx="24806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Inside the culvert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4742DBD4-0ECA-EF9C-8181-5BF56FE51FA1}"/>
                </a:ext>
              </a:extLst>
            </p:cNvPr>
            <p:cNvSpPr txBox="1"/>
            <p:nvPr/>
          </p:nvSpPr>
          <p:spPr>
            <a:xfrm>
              <a:off x="6622138" y="6218828"/>
              <a:ext cx="97049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00B0F0"/>
                  </a:solidFill>
                </a:rPr>
                <a:t>Hydraulic jump</a:t>
              </a:r>
            </a:p>
          </p:txBody>
        </p:sp>
        <p:sp>
          <p:nvSpPr>
            <p:cNvPr id="113" name="Right Arrow 112">
              <a:extLst>
                <a:ext uri="{FF2B5EF4-FFF2-40B4-BE49-F238E27FC236}">
                  <a16:creationId xmlns:a16="http://schemas.microsoft.com/office/drawing/2014/main" id="{C65AB482-2287-9449-2F32-D5DA32527F31}"/>
                </a:ext>
              </a:extLst>
            </p:cNvPr>
            <p:cNvSpPr/>
            <p:nvPr/>
          </p:nvSpPr>
          <p:spPr>
            <a:xfrm>
              <a:off x="1774288" y="5708273"/>
              <a:ext cx="381000" cy="317780"/>
            </a:xfrm>
            <a:prstGeom prst="rightArrow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ight Arrow 114">
              <a:extLst>
                <a:ext uri="{FF2B5EF4-FFF2-40B4-BE49-F238E27FC236}">
                  <a16:creationId xmlns:a16="http://schemas.microsoft.com/office/drawing/2014/main" id="{DB512DC6-6362-4803-BECD-DAB0E44AAD8F}"/>
                </a:ext>
              </a:extLst>
            </p:cNvPr>
            <p:cNvSpPr/>
            <p:nvPr/>
          </p:nvSpPr>
          <p:spPr>
            <a:xfrm>
              <a:off x="10656936" y="5780597"/>
              <a:ext cx="381000" cy="317780"/>
            </a:xfrm>
            <a:prstGeom prst="rightArrow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8" name="Cross 117">
              <a:extLst>
                <a:ext uri="{FF2B5EF4-FFF2-40B4-BE49-F238E27FC236}">
                  <a16:creationId xmlns:a16="http://schemas.microsoft.com/office/drawing/2014/main" id="{AEC7CA1E-1CD9-28C7-74DA-095F0560FDFC}"/>
                </a:ext>
              </a:extLst>
            </p:cNvPr>
            <p:cNvSpPr/>
            <p:nvPr/>
          </p:nvSpPr>
          <p:spPr>
            <a:xfrm>
              <a:off x="8946370" y="5354518"/>
              <a:ext cx="200150" cy="204970"/>
            </a:xfrm>
            <a:prstGeom prst="plus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6927437C-375C-5187-5029-3112DDE1FE8B}"/>
                </a:ext>
              </a:extLst>
            </p:cNvPr>
            <p:cNvCxnSpPr>
              <a:cxnSpLocks/>
              <a:stCxn id="118" idx="0"/>
            </p:cNvCxnSpPr>
            <p:nvPr/>
          </p:nvCxnSpPr>
          <p:spPr>
            <a:xfrm flipV="1">
              <a:off x="9046445" y="4736467"/>
              <a:ext cx="0" cy="618051"/>
            </a:xfrm>
            <a:prstGeom prst="line">
              <a:avLst/>
            </a:prstGeom>
            <a:ln w="28575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0A851409-F0B2-394C-0363-D1224ECD04CE}"/>
                </a:ext>
              </a:extLst>
            </p:cNvPr>
            <p:cNvSpPr txBox="1"/>
            <p:nvPr/>
          </p:nvSpPr>
          <p:spPr>
            <a:xfrm>
              <a:off x="753010" y="5570186"/>
              <a:ext cx="102127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00B0F0"/>
                  </a:solidFill>
                </a:rPr>
                <a:t>Water is pumped in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0892CF0D-F3CA-203A-E8EC-7A6E02EABA8B}"/>
                </a:ext>
              </a:extLst>
            </p:cNvPr>
            <p:cNvSpPr txBox="1"/>
            <p:nvPr/>
          </p:nvSpPr>
          <p:spPr>
            <a:xfrm>
              <a:off x="11044538" y="5695608"/>
              <a:ext cx="102127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rgbClr val="00B0F0"/>
                  </a:solidFill>
                </a:rPr>
                <a:t>Water flows out</a:t>
              </a:r>
            </a:p>
          </p:txBody>
        </p:sp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C967DDB7-59AD-396D-E060-D4BF5A34C4EA}"/>
              </a:ext>
            </a:extLst>
          </p:cNvPr>
          <p:cNvGrpSpPr/>
          <p:nvPr/>
        </p:nvGrpSpPr>
        <p:grpSpPr>
          <a:xfrm>
            <a:off x="8829967" y="1680346"/>
            <a:ext cx="3055284" cy="2183449"/>
            <a:chOff x="8925339" y="1639957"/>
            <a:chExt cx="3055284" cy="2183449"/>
          </a:xfrm>
        </p:grpSpPr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501C889D-F175-5DF9-123A-A075B681018F}"/>
                </a:ext>
              </a:extLst>
            </p:cNvPr>
            <p:cNvSpPr/>
            <p:nvPr/>
          </p:nvSpPr>
          <p:spPr>
            <a:xfrm>
              <a:off x="9059653" y="1823777"/>
              <a:ext cx="2920970" cy="199962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8" name="Regular Pentagon 87">
              <a:extLst>
                <a:ext uri="{FF2B5EF4-FFF2-40B4-BE49-F238E27FC236}">
                  <a16:creationId xmlns:a16="http://schemas.microsoft.com/office/drawing/2014/main" id="{7D1F892A-96E7-8A9F-E13A-26CA2BD5CD2F}"/>
                </a:ext>
              </a:extLst>
            </p:cNvPr>
            <p:cNvSpPr/>
            <p:nvPr/>
          </p:nvSpPr>
          <p:spPr>
            <a:xfrm rot="2125004">
              <a:off x="9180978" y="2326588"/>
              <a:ext cx="302322" cy="272245"/>
            </a:xfrm>
            <a:prstGeom prst="pentagon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31FBED90-7767-A442-3169-6FF0343D889A}"/>
                </a:ext>
              </a:extLst>
            </p:cNvPr>
            <p:cNvCxnSpPr>
              <a:cxnSpLocks/>
            </p:cNvCxnSpPr>
            <p:nvPr/>
          </p:nvCxnSpPr>
          <p:spPr>
            <a:xfrm>
              <a:off x="9331107" y="2649858"/>
              <a:ext cx="0" cy="267977"/>
            </a:xfrm>
            <a:prstGeom prst="line">
              <a:avLst/>
            </a:prstGeom>
            <a:ln w="38100">
              <a:solidFill>
                <a:srgbClr val="C00000">
                  <a:alpha val="48565"/>
                </a:srgbClr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A870C19D-23C1-41CE-2257-106ADDC7FE74}"/>
                </a:ext>
              </a:extLst>
            </p:cNvPr>
            <p:cNvSpPr txBox="1"/>
            <p:nvPr/>
          </p:nvSpPr>
          <p:spPr>
            <a:xfrm>
              <a:off x="9492869" y="2278145"/>
              <a:ext cx="24416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Ultrasonic sensor to measure water height</a:t>
              </a:r>
            </a:p>
          </p:txBody>
        </p:sp>
        <p:sp>
          <p:nvSpPr>
            <p:cNvPr id="124" name="Cross 123">
              <a:extLst>
                <a:ext uri="{FF2B5EF4-FFF2-40B4-BE49-F238E27FC236}">
                  <a16:creationId xmlns:a16="http://schemas.microsoft.com/office/drawing/2014/main" id="{8FD432B5-00A9-4F28-CF42-7CB75DD825C6}"/>
                </a:ext>
              </a:extLst>
            </p:cNvPr>
            <p:cNvSpPr/>
            <p:nvPr/>
          </p:nvSpPr>
          <p:spPr>
            <a:xfrm>
              <a:off x="9231032" y="3408133"/>
              <a:ext cx="200150" cy="204970"/>
            </a:xfrm>
            <a:prstGeom prst="plus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F2335064-632F-CF67-1AB7-7E0DEE70B326}"/>
                </a:ext>
              </a:extLst>
            </p:cNvPr>
            <p:cNvCxnSpPr>
              <a:cxnSpLocks/>
              <a:stCxn id="124" idx="0"/>
            </p:cNvCxnSpPr>
            <p:nvPr/>
          </p:nvCxnSpPr>
          <p:spPr>
            <a:xfrm flipV="1">
              <a:off x="9331107" y="3155672"/>
              <a:ext cx="0" cy="252461"/>
            </a:xfrm>
            <a:prstGeom prst="line">
              <a:avLst/>
            </a:prstGeom>
            <a:ln w="28575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2E30C07E-07A8-55B6-8B7A-C271CAD2ACF2}"/>
                </a:ext>
              </a:extLst>
            </p:cNvPr>
            <p:cNvSpPr txBox="1"/>
            <p:nvPr/>
          </p:nvSpPr>
          <p:spPr>
            <a:xfrm>
              <a:off x="9538935" y="3048329"/>
              <a:ext cx="24416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2"/>
                  </a:solidFill>
                </a:rPr>
                <a:t>ADV to measure water velocity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115F07A0-91DC-B845-7149-1CD38ECA1C75}"/>
                </a:ext>
              </a:extLst>
            </p:cNvPr>
            <p:cNvSpPr txBox="1"/>
            <p:nvPr/>
          </p:nvSpPr>
          <p:spPr>
            <a:xfrm>
              <a:off x="9046445" y="1834928"/>
              <a:ext cx="131386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Sensors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53A592BC-8420-5C34-CA44-6D1D5EAAAE44}"/>
                </a:ext>
              </a:extLst>
            </p:cNvPr>
            <p:cNvSpPr txBox="1"/>
            <p:nvPr/>
          </p:nvSpPr>
          <p:spPr>
            <a:xfrm>
              <a:off x="8925339" y="1639957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6860843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67F7B4-4112-3BC7-43A4-4459DBE06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8131B56-F226-358E-93C5-738B36D7DE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48982FA-A343-71D7-8022-08B5692D36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66D318-CDDE-4DA5-A8D3-B2270F1A93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D96F533-59B2-9208-B756-96D4DC14EC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8764D48-B9B4-8B28-2DCC-0CF48A71E4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1D00B0-D73B-89B8-001D-036E4FEC1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3131" y="277599"/>
            <a:ext cx="9895951" cy="1033669"/>
          </a:xfrm>
        </p:spPr>
        <p:txBody>
          <a:bodyPr>
            <a:normAutofit/>
          </a:bodyPr>
          <a:lstStyle/>
          <a:p>
            <a:r>
              <a:rPr lang="en-US" sz="5000" dirty="0">
                <a:solidFill>
                  <a:srgbClr val="FFFFFF"/>
                </a:solidFill>
              </a:rPr>
              <a:t>Water height sensors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EFA85E7B-94A1-440C-2774-7B075EAB2E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350" y="1930351"/>
            <a:ext cx="2942561" cy="39234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3C9F6774-2F15-D3A7-19CF-9B9099E081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24719" y="1937041"/>
            <a:ext cx="2942562" cy="3923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>
            <a:extLst>
              <a:ext uri="{FF2B5EF4-FFF2-40B4-BE49-F238E27FC236}">
                <a16:creationId xmlns:a16="http://schemas.microsoft.com/office/drawing/2014/main" id="{9A316C13-7FF2-01C5-E79F-62F04164C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5904" y="1930351"/>
            <a:ext cx="2942563" cy="3923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908D9B3-212E-5B69-8F19-F460099B8A89}"/>
              </a:ext>
            </a:extLst>
          </p:cNvPr>
          <p:cNvSpPr txBox="1"/>
          <p:nvPr/>
        </p:nvSpPr>
        <p:spPr>
          <a:xfrm>
            <a:off x="1140498" y="6071643"/>
            <a:ext cx="15802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en-US" sz="2400" b="0" i="0" u="none" strike="noStrike" dirty="0">
                <a:solidFill>
                  <a:srgbClr val="595959"/>
                </a:solidFill>
                <a:effectLst/>
                <a:latin typeface="Albert Sans"/>
              </a:rPr>
              <a:t>Head tank</a:t>
            </a:r>
            <a:endParaRPr lang="en-US" sz="2400" b="0" dirty="0"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C1F7D1-3057-3643-504A-E4658E59A541}"/>
              </a:ext>
            </a:extLst>
          </p:cNvPr>
          <p:cNvSpPr txBox="1"/>
          <p:nvPr/>
        </p:nvSpPr>
        <p:spPr>
          <a:xfrm>
            <a:off x="5123417" y="6056725"/>
            <a:ext cx="194516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en-US" sz="2400" b="0" i="0" u="none" strike="noStrike" dirty="0">
                <a:solidFill>
                  <a:srgbClr val="595959"/>
                </a:solidFill>
                <a:effectLst/>
                <a:latin typeface="Albert Sans"/>
              </a:rPr>
              <a:t>Supercritical</a:t>
            </a:r>
            <a:endParaRPr lang="en-US" sz="2400" b="0" dirty="0">
              <a:effectLst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5FAFBD4-4B65-9F3B-4828-2AED8D2448A6}"/>
              </a:ext>
            </a:extLst>
          </p:cNvPr>
          <p:cNvSpPr txBox="1"/>
          <p:nvPr/>
        </p:nvSpPr>
        <p:spPr>
          <a:xfrm>
            <a:off x="9471234" y="6071643"/>
            <a:ext cx="194516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en-US" sz="2400" b="0" i="0" u="none" strike="noStrike" dirty="0">
                <a:solidFill>
                  <a:srgbClr val="595959"/>
                </a:solidFill>
                <a:effectLst/>
                <a:latin typeface="Albert Sans"/>
              </a:rPr>
              <a:t>Subcritical</a:t>
            </a:r>
            <a:endParaRPr lang="en-US" sz="2400" b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0657834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D043F5-2AE3-6E22-2A2D-0ACF89B9D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9877708-3BAD-4C10-4F38-B7488BA934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469C54-F9B5-4B63-50BF-C110372E4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3D87C4D-340A-0579-4EC6-09F36E42CD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AB2BDA1-D1A7-0CFA-5CFA-9FB84AF94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D993B0B-9BC4-1F17-A8D3-50C582247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54F603-05B1-CD63-E038-3056010D9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346" y="278535"/>
            <a:ext cx="11384992" cy="1033669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First trial – how does discharge change with changing hydraulic head?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5B09C03-A58D-AFB9-C96A-3FB899B3DF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26" y="1721811"/>
            <a:ext cx="4963464" cy="501181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729AD597-162C-D0E7-93CB-DDAED6DA36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5716" y="1721811"/>
            <a:ext cx="6286197" cy="502007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27BC8ED4-3868-0691-2656-3053C3D47249}"/>
              </a:ext>
            </a:extLst>
          </p:cNvPr>
          <p:cNvSpPr txBox="1"/>
          <p:nvPr/>
        </p:nvSpPr>
        <p:spPr>
          <a:xfrm>
            <a:off x="7490673" y="2321004"/>
            <a:ext cx="2045936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</a:rPr>
              <a:t>Note: no hysteresis was observed!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E3B505D-8531-FD37-B749-4A16731A7826}"/>
              </a:ext>
            </a:extLst>
          </p:cNvPr>
          <p:cNvSpPr/>
          <p:nvPr/>
        </p:nvSpPr>
        <p:spPr>
          <a:xfrm>
            <a:off x="8277590" y="5665494"/>
            <a:ext cx="632095" cy="64540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85414EE-ECD3-E96C-AA96-53EFDD2E5718}"/>
              </a:ext>
            </a:extLst>
          </p:cNvPr>
          <p:cNvSpPr txBox="1"/>
          <p:nvPr/>
        </p:nvSpPr>
        <p:spPr>
          <a:xfrm>
            <a:off x="8982851" y="5273079"/>
            <a:ext cx="2371914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rgbClr val="FF0000"/>
                </a:solidFill>
              </a:rPr>
              <a:t>Not sure why trial 1 is not consistent with other data points</a:t>
            </a:r>
          </a:p>
        </p:txBody>
      </p:sp>
    </p:spTree>
    <p:extLst>
      <p:ext uri="{BB962C8B-B14F-4D97-AF65-F5344CB8AC3E}">
        <p14:creationId xmlns:p14="http://schemas.microsoft.com/office/powerpoint/2010/main" val="31248550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DB0F28-7E94-461F-E6A1-59F2E6CC9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2DB8AAD-4D49-9091-92AF-D844C77CCE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AF20AF-2662-D6CE-F220-9B356961E0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8A0D47-9DE7-5664-59CB-57E7B531A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5013A9-9B39-7F99-077E-9D9BA16197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360497E-AA9F-CF59-9AA5-67666E6D22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C421D6-09BF-B232-5FE1-3FA638859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346" y="278535"/>
            <a:ext cx="11384992" cy="1033669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Second trial – observe how discharge changes with changing head difference</a:t>
            </a:r>
          </a:p>
        </p:txBody>
      </p:sp>
    </p:spTree>
    <p:extLst>
      <p:ext uri="{BB962C8B-B14F-4D97-AF65-F5344CB8AC3E}">
        <p14:creationId xmlns:p14="http://schemas.microsoft.com/office/powerpoint/2010/main" val="5311683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FC3EA8-67C4-000C-26C8-155FE2EBF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84D3078-7C7B-C090-720C-A6E2A563E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1F3E52-DD28-12FE-0C91-08150E0D8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7BB315D-510A-907C-A14A-4726A91210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28158DA-7788-2A5A-295D-020B98D54B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7D1F016-04D4-A54E-2E3F-8E01A7A35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AFAA13-FD85-EA2F-B943-18CC10B16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346" y="278535"/>
            <a:ext cx="9895951" cy="1033669"/>
          </a:xfrm>
        </p:spPr>
        <p:txBody>
          <a:bodyPr>
            <a:noAutofit/>
          </a:bodyPr>
          <a:lstStyle/>
          <a:p>
            <a:r>
              <a:rPr lang="en-US" sz="4500" dirty="0">
                <a:solidFill>
                  <a:srgbClr val="FFFFFF"/>
                </a:solidFill>
              </a:rPr>
              <a:t>Scaled hydrograph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28D328-7793-9F3D-B912-FE9E5E473B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739" y="1719272"/>
            <a:ext cx="3548176" cy="50168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A33606-56C1-A155-A7C5-3B6040C667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9251" y="1719272"/>
            <a:ext cx="3548177" cy="5016888"/>
          </a:xfrm>
          <a:prstGeom prst="rect">
            <a:avLst/>
          </a:prstGeom>
        </p:spPr>
      </p:pic>
      <p:sp>
        <p:nvSpPr>
          <p:cNvPr id="7" name="Right Arrow 6">
            <a:extLst>
              <a:ext uri="{FF2B5EF4-FFF2-40B4-BE49-F238E27FC236}">
                <a16:creationId xmlns:a16="http://schemas.microsoft.com/office/drawing/2014/main" id="{8E4F92C6-8722-D28E-85D0-83300F0E1E6E}"/>
              </a:ext>
            </a:extLst>
          </p:cNvPr>
          <p:cNvSpPr/>
          <p:nvPr/>
        </p:nvSpPr>
        <p:spPr>
          <a:xfrm>
            <a:off x="4983653" y="3309258"/>
            <a:ext cx="1852575" cy="1502228"/>
          </a:xfrm>
          <a:prstGeom prst="rightArrow">
            <a:avLst/>
          </a:prstGeom>
          <a:solidFill>
            <a:srgbClr val="071F2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3.05:1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scale factor</a:t>
            </a:r>
          </a:p>
        </p:txBody>
      </p:sp>
    </p:spTree>
    <p:extLst>
      <p:ext uri="{BB962C8B-B14F-4D97-AF65-F5344CB8AC3E}">
        <p14:creationId xmlns:p14="http://schemas.microsoft.com/office/powerpoint/2010/main" val="24779063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7CB075-3778-BC6D-FC2F-2F1D9B341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5FF503D-5BEF-DBE0-B444-1ACF35649D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1AA09E3-B86F-CCD7-C381-BD2A5DB712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D0429B8-2F96-F2B9-36FD-E81315654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622F5B-9999-E91E-C156-4E689ED50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E4C7EB-84E3-ACBA-A730-74ACD439ED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776394-8AB3-18D9-104B-8C03047EB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346" y="278535"/>
            <a:ext cx="9895951" cy="1033669"/>
          </a:xfrm>
        </p:spPr>
        <p:txBody>
          <a:bodyPr>
            <a:noAutofit/>
          </a:bodyPr>
          <a:lstStyle/>
          <a:p>
            <a:r>
              <a:rPr lang="en-US" sz="4500" dirty="0">
                <a:solidFill>
                  <a:srgbClr val="FFFFFF"/>
                </a:solidFill>
              </a:rPr>
              <a:t>In progress: matching gage hydrograph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9A48BEF-FAC5-C1B0-F3AF-8815E6B260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68" y="1676944"/>
            <a:ext cx="3627783" cy="512944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C8FE6C5-4C8C-0D65-42D0-2AD39710831C}"/>
              </a:ext>
            </a:extLst>
          </p:cNvPr>
          <p:cNvSpPr txBox="1"/>
          <p:nvPr/>
        </p:nvSpPr>
        <p:spPr>
          <a:xfrm>
            <a:off x="3866319" y="1736699"/>
            <a:ext cx="60960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500" dirty="0">
                <a:latin typeface="Avenir Next" panose="020B0503020202020204" pitchFamily="34" charset="0"/>
              </a:rPr>
              <a:t>Res</a:t>
            </a:r>
            <a:r>
              <a:rPr lang="en-US" sz="2500" b="0" i="0" dirty="0">
                <a:effectLst/>
                <a:latin typeface="Avenir Next" panose="020B0503020202020204" pitchFamily="34" charset="0"/>
              </a:rPr>
              <a:t>caled discharge: 4.17 m</a:t>
            </a:r>
            <a:r>
              <a:rPr lang="en-US" sz="2500" b="0" i="0" baseline="30000" dirty="0">
                <a:effectLst/>
                <a:latin typeface="Avenir Next" panose="020B0503020202020204" pitchFamily="34" charset="0"/>
              </a:rPr>
              <a:t>3</a:t>
            </a:r>
            <a:r>
              <a:rPr lang="en-US" sz="2500" b="0" i="0" dirty="0">
                <a:effectLst/>
                <a:latin typeface="Avenir Next" panose="020B0503020202020204" pitchFamily="34" charset="0"/>
              </a:rPr>
              <a:t>/s</a:t>
            </a:r>
          </a:p>
          <a:p>
            <a:r>
              <a:rPr lang="en-US" sz="2500" dirty="0">
                <a:latin typeface="Avenir Next" panose="020B0503020202020204" pitchFamily="34" charset="0"/>
              </a:rPr>
              <a:t>Res</a:t>
            </a:r>
            <a:r>
              <a:rPr lang="en-US" sz="2500" b="0" i="0" dirty="0">
                <a:effectLst/>
                <a:latin typeface="Avenir Next" panose="020B0503020202020204" pitchFamily="34" charset="0"/>
              </a:rPr>
              <a:t>caled head difference: 0.56 m</a:t>
            </a:r>
            <a:endParaRPr lang="en-US" sz="2500" dirty="0">
              <a:latin typeface="Avenir Next" panose="020B0503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0071E4-77F9-E7D7-7CED-A038135397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252" b="12295"/>
          <a:stretch>
            <a:fillRect/>
          </a:stretch>
        </p:blipFill>
        <p:spPr>
          <a:xfrm>
            <a:off x="6449252" y="2737741"/>
            <a:ext cx="5742744" cy="412454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8A04418-D3F8-C626-D05C-434307A303A9}"/>
              </a:ext>
            </a:extLst>
          </p:cNvPr>
          <p:cNvSpPr txBox="1"/>
          <p:nvPr/>
        </p:nvSpPr>
        <p:spPr>
          <a:xfrm>
            <a:off x="4303570" y="3271194"/>
            <a:ext cx="244397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How does this compare with the field measurements and model predictions?</a:t>
            </a:r>
          </a:p>
        </p:txBody>
      </p:sp>
    </p:spTree>
    <p:extLst>
      <p:ext uri="{BB962C8B-B14F-4D97-AF65-F5344CB8AC3E}">
        <p14:creationId xmlns:p14="http://schemas.microsoft.com/office/powerpoint/2010/main" val="19316745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6303</TotalTime>
  <Words>219</Words>
  <Application>Microsoft Macintosh PowerPoint</Application>
  <PresentationFormat>Widescreen</PresentationFormat>
  <Paragraphs>46</Paragraphs>
  <Slides>10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Albert Sans</vt:lpstr>
      <vt:lpstr>Aptos</vt:lpstr>
      <vt:lpstr>Aptos Display</vt:lpstr>
      <vt:lpstr>Arial</vt:lpstr>
      <vt:lpstr>Avenir Next</vt:lpstr>
      <vt:lpstr>Office Theme</vt:lpstr>
      <vt:lpstr>An experimental scale-model study of a bidirectional flow control culvert in the Chequessett Neck Road dike at the Herring River Estuary</vt:lpstr>
      <vt:lpstr>Background and motivation</vt:lpstr>
      <vt:lpstr>Bidirectional culvert</vt:lpstr>
      <vt:lpstr>Research questions</vt:lpstr>
      <vt:lpstr>Experimental setup</vt:lpstr>
      <vt:lpstr>Water height sensors</vt:lpstr>
      <vt:lpstr>First trial – how does discharge change with changing hydraulic head?</vt:lpstr>
      <vt:lpstr>Second trial – observe how discharge changes with changing head difference</vt:lpstr>
      <vt:lpstr>Scaled hydrograph</vt:lpstr>
      <vt:lpstr>In progress: matching gage hydrograph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Claire Yuewei Wang</dc:creator>
  <cp:lastModifiedBy>Claire Yuewei Wang</cp:lastModifiedBy>
  <cp:revision>3</cp:revision>
  <dcterms:created xsi:type="dcterms:W3CDTF">2025-11-14T14:58:57Z</dcterms:created>
  <dcterms:modified xsi:type="dcterms:W3CDTF">2025-11-19T00:02:17Z</dcterms:modified>
</cp:coreProperties>
</file>