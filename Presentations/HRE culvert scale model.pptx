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66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1F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55"/>
  </p:normalViewPr>
  <p:slideViewPr>
    <p:cSldViewPr snapToGrid="0">
      <p:cViewPr>
        <p:scale>
          <a:sx n="400" d="100"/>
          <a:sy n="400" d="100"/>
        </p:scale>
        <p:origin x="-17768" y="-10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D52A5-D477-A247-A2D2-0609F10D6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526F69-4748-080F-F058-0D8932440F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D17B5-5629-C944-BE81-69CAA2497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78937-E087-BE4F-B30E-67A1FF7F09C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10416-A8A8-059A-225B-A6124F7DA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08683-32EE-DDC1-AB02-51FC3C984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927E-D0C0-C247-A2EC-73DE2CD5D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001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2A907-13C2-0F3B-00D4-252D80B47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5E2FE-85D1-C8E1-B647-F1D96193F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33F92-6B85-B4D4-003C-7228BDDAE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78937-E087-BE4F-B30E-67A1FF7F09C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55AE3-7BAE-1F98-9B7A-BB53B536F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1FC45-6DBE-F0F9-DCD7-04684F558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927E-D0C0-C247-A2EC-73DE2CD5D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767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FCBF6-ECB4-89E7-0916-F3E46FB56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14FF9-08C3-BEE7-7126-D9C9B6F3D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B47AA-2C30-B5B7-F2DC-BF09104FF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78937-E087-BE4F-B30E-67A1FF7F09C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9F68F-7051-DED0-2BBD-C673684F2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4AF1C-B50F-DEEA-C767-7047209D3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927E-D0C0-C247-A2EC-73DE2CD5D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883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F810C-7717-F8F4-9BBF-7545E42EE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082A5-E01A-96AE-B6B9-AC6AACDFB3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E47644-BEE1-99D3-00BD-70215FAE7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CD81C-73EE-FF76-4008-53E8D747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78937-E087-BE4F-B30E-67A1FF7F09C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567D7-12F6-74D5-A491-71C7550D5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642D8-6982-AB94-17DE-0C1FD7656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927E-D0C0-C247-A2EC-73DE2CD5D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520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84A5D-5010-A903-7841-3B0CFA71B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6445A-6F32-5DCF-74CF-29EE8FD61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47A7C-2453-7B22-8E60-BDF5189C7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6600ED-F564-EB81-0E1A-127D27D741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BF3F98-7DED-59BD-83D6-C6C3103381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D42501-A89A-F29D-DE4B-B1BF0CE27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78937-E087-BE4F-B30E-67A1FF7F09C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4190AD-1D31-C724-2219-A40660151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056F5D-2AED-7298-64CB-ED83EFF48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927E-D0C0-C247-A2EC-73DE2CD5D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83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9D5FD-6BF7-5C7F-3509-A25C379D5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CC2DC8-FB90-EEE0-40F3-9D840CCDA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78937-E087-BE4F-B30E-67A1FF7F09C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45D5C1-FE8E-6312-AFCE-14E6DDFD8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39300B-D47A-6CC6-01E0-E2B71C4F1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927E-D0C0-C247-A2EC-73DE2CD5D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420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890ED2-46AA-8D71-798A-B7F9CD86A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78937-E087-BE4F-B30E-67A1FF7F09C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BD708B-01F3-0D26-448E-ACA168BBD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6BBE8-FBCB-EAF2-F97F-C6423AFB3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927E-D0C0-C247-A2EC-73DE2CD5D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141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7B6B7-6D2C-CD3D-9C9A-276C4CAEA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20982-1B36-159B-22A1-3F09801DA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4DCCF-D249-E553-50B5-682B3B021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9AA37-B88D-3DD4-149D-13C2586B2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78937-E087-BE4F-B30E-67A1FF7F09C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8B602-8E04-29FC-9ACC-4EFA85ECB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FA997D-8E29-3869-8835-161E7393F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927E-D0C0-C247-A2EC-73DE2CD5D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215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75511-5729-D283-8B78-08F15AF0F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989CBA-EEE8-E02F-E498-39DB80848B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6F760-9A01-A65F-47B2-4306623FE3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344B3-CA32-2014-5080-4863CCA6E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78937-E087-BE4F-B30E-67A1FF7F09C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3A939-EB95-76A6-62F5-853506F77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A873F1-B313-2440-F85F-7BCBBCCA4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927E-D0C0-C247-A2EC-73DE2CD5D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41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E87BE-F338-AD38-7789-91D1B658F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D0E872-5383-90EC-A031-BF989310F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E9461-5AC7-039F-9731-E68D42B96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78937-E087-BE4F-B30E-67A1FF7F09C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F8F63-EDE9-4A63-2261-F948C51D9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78AD8-8126-21CA-1DF9-B3FFC1FEF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927E-D0C0-C247-A2EC-73DE2CD5D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63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A0B345-40E5-A85A-F96F-B2269A603D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18AB6-AA2B-619B-91E8-D7A4C3E91F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6F559-04BC-B4EF-C6A9-B27A7C148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78937-E087-BE4F-B30E-67A1FF7F09C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EDA83-8C01-2D14-641A-6EE8D4112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8044A-A387-80D7-44A3-D63B3CF4F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7927E-D0C0-C247-A2EC-73DE2CD5D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539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4F8062-422A-00C8-EA40-FC4BF478D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A43B8-E9B8-DCD8-53DB-CC093C474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64DE0-6763-FFEE-5427-3ABBE98616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778937-E087-BE4F-B30E-67A1FF7F09C1}" type="datetimeFigureOut">
              <a:rPr lang="en-US" smtClean="0"/>
              <a:t>11/14/25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C59FF-26D3-A3E6-8EFC-D023767F47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3618E-A26D-0C0B-22F5-D86F666D2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C7927E-D0C0-C247-A2EC-73DE2CD5D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180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97101B-0AB0-1E92-63D7-5615782C1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500" dirty="0">
                <a:solidFill>
                  <a:srgbClr val="FFFFFF"/>
                </a:solidFill>
                <a:latin typeface="Avenir Next" panose="020B0503020202020204" pitchFamily="34" charset="0"/>
              </a:rPr>
              <a:t>An experimental scale-model study of a bidirectional flow control culvert</a:t>
            </a:r>
            <a:br>
              <a:rPr lang="en-US" sz="4500" dirty="0">
                <a:solidFill>
                  <a:srgbClr val="FFFFFF"/>
                </a:solidFill>
                <a:latin typeface="Avenir Next" panose="020B0503020202020204" pitchFamily="34" charset="0"/>
              </a:rPr>
            </a:br>
            <a:r>
              <a:rPr lang="en-US" sz="4500" dirty="0">
                <a:solidFill>
                  <a:srgbClr val="FFFFFF"/>
                </a:solidFill>
                <a:latin typeface="Avenir Next" panose="020B0503020202020204" pitchFamily="34" charset="0"/>
              </a:rPr>
              <a:t>in the Chequessett Neck Road dike at the Herring River Estuary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5D15E5B-9CB4-A6BF-22CE-24AB56724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0784" y="4979608"/>
            <a:ext cx="10005951" cy="1035354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Avenir Next" panose="020B0503020202020204" pitchFamily="34" charset="0"/>
              </a:rPr>
              <a:t>Claire Wang, Environmental Engineering Undergraduate ’27</a:t>
            </a:r>
          </a:p>
          <a:p>
            <a:pPr algn="l"/>
            <a:r>
              <a:rPr lang="en-US" dirty="0">
                <a:latin typeface="Avenir Next" panose="020B0503020202020204" pitchFamily="34" charset="0"/>
              </a:rPr>
              <a:t>DeFrees Hydraulics Laboratory, Cornell University</a:t>
            </a:r>
          </a:p>
        </p:txBody>
      </p:sp>
    </p:spTree>
    <p:extLst>
      <p:ext uri="{BB962C8B-B14F-4D97-AF65-F5344CB8AC3E}">
        <p14:creationId xmlns:p14="http://schemas.microsoft.com/office/powerpoint/2010/main" val="1504183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60E458-A3DF-7A87-0632-22CC27E29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575255-F191-EDA0-4C44-9E6FC5BD5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348968"/>
            <a:ext cx="9895951" cy="1033669"/>
          </a:xfrm>
        </p:spPr>
        <p:txBody>
          <a:bodyPr>
            <a:normAutofit/>
          </a:bodyPr>
          <a:lstStyle/>
          <a:p>
            <a:r>
              <a:rPr lang="en-US" sz="5000">
                <a:solidFill>
                  <a:srgbClr val="FFFFFF"/>
                </a:solidFill>
                <a:latin typeface="Avenir Next" panose="020B0503020202020204" pitchFamily="34" charset="0"/>
              </a:rPr>
              <a:t>Background and motivation</a:t>
            </a:r>
            <a:endParaRPr lang="en-US" sz="5000" dirty="0">
              <a:solidFill>
                <a:srgbClr val="FFFFFF"/>
              </a:solidFill>
              <a:latin typeface="Avenir Next" panose="020B0503020202020204" pitchFamily="34" charset="0"/>
            </a:endParaRPr>
          </a:p>
        </p:txBody>
      </p:sp>
      <p:pic>
        <p:nvPicPr>
          <p:cNvPr id="5" name="Content Placeholder 4" descr="A graph of a diagram&#10;&#10;AI-generated content may be incorrect.">
            <a:extLst>
              <a:ext uri="{FF2B5EF4-FFF2-40B4-BE49-F238E27FC236}">
                <a16:creationId xmlns:a16="http://schemas.microsoft.com/office/drawing/2014/main" id="{18613D00-571B-8E33-ED40-EA0F5914E8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295" y="2089228"/>
            <a:ext cx="6181279" cy="398500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0A30AC-1492-F8DD-786C-508207B0E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069" y="2089228"/>
            <a:ext cx="5258715" cy="441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046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8C96E2-7D16-E8C9-B8B6-0F7122E2C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E57D86-5F37-2023-E2F7-E385B1E21C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BC4CEE-0C60-C68E-1028-828FFD809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207EF6-5A31-9CDF-E4AE-94E06D23F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5CFC7A-D43C-9EFC-2AB6-A37E525BCB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959132-F6D7-B0D0-075E-6C395EDCA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313D1-235C-C915-1915-939D3D273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339610"/>
            <a:ext cx="9895951" cy="1033669"/>
          </a:xfrm>
        </p:spPr>
        <p:txBody>
          <a:bodyPr>
            <a:noAutofit/>
          </a:bodyPr>
          <a:lstStyle/>
          <a:p>
            <a:r>
              <a:rPr lang="en-US" sz="4500" dirty="0">
                <a:solidFill>
                  <a:srgbClr val="FFFFFF"/>
                </a:solidFill>
                <a:latin typeface="Avenir Next" panose="020B0503020202020204" pitchFamily="34" charset="0"/>
              </a:rPr>
              <a:t>Bidirectional culvert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3A26190-BB84-5EB8-7F1B-5D1432C2D0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45"/>
          <a:stretch>
            <a:fillRect/>
          </a:stretch>
        </p:blipFill>
        <p:spPr bwMode="auto">
          <a:xfrm>
            <a:off x="2122712" y="2226501"/>
            <a:ext cx="7946572" cy="3599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9124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37529B-020B-278E-68BA-025985A76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C41F51C-F3A7-6A14-B076-026457C509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37625B-F71C-0DB4-8972-EFD174E3A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85E1F3-9872-2BFC-92CC-89B589585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7565F9-EF85-A6F8-56ED-F790A5207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E24176-474A-67FF-C70A-0E87C852E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50399E-9570-BC60-60EB-6065A3653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339610"/>
            <a:ext cx="9895951" cy="1033669"/>
          </a:xfrm>
        </p:spPr>
        <p:txBody>
          <a:bodyPr>
            <a:normAutofit/>
          </a:bodyPr>
          <a:lstStyle/>
          <a:p>
            <a:r>
              <a:rPr lang="en-US" sz="5000" dirty="0">
                <a:solidFill>
                  <a:srgbClr val="FFFFFF"/>
                </a:solidFill>
                <a:latin typeface="Avenir Next" panose="020B0503020202020204" pitchFamily="34" charset="0"/>
              </a:rPr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63171-5720-D47B-A92D-E76BF2A54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330" y="2066522"/>
            <a:ext cx="6608756" cy="3713792"/>
          </a:xfrm>
        </p:spPr>
        <p:txBody>
          <a:bodyPr anchor="ctr">
            <a:normAutofit/>
          </a:bodyPr>
          <a:lstStyle/>
          <a:p>
            <a:r>
              <a:rPr lang="en-US" sz="3000" dirty="0">
                <a:latin typeface="Avenir Next" panose="020B0503020202020204" pitchFamily="34" charset="0"/>
              </a:rPr>
              <a:t>How does the scale model in the lab compare to field measurements and existing models?</a:t>
            </a:r>
          </a:p>
          <a:p>
            <a:pPr marL="0" indent="0">
              <a:buNone/>
            </a:pPr>
            <a:endParaRPr lang="en-US" sz="3000" dirty="0">
              <a:latin typeface="Avenir Next" panose="020B0503020202020204" pitchFamily="34" charset="0"/>
            </a:endParaRPr>
          </a:p>
          <a:p>
            <a:r>
              <a:rPr lang="en-US" sz="3000" dirty="0">
                <a:latin typeface="Avenir Next" panose="020B0503020202020204" pitchFamily="34" charset="0"/>
              </a:rPr>
              <a:t>What is the head loss generated by the hydraulic jump in the culvert?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28EDDF8-7D3D-692A-E735-756B6A8F0E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194" y="1837922"/>
            <a:ext cx="5036476" cy="4538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6313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F5C7C0-3F88-EA01-6F6A-5321902F1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8A5046-4284-8193-35DF-33F99A1B1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5B87A5-2CE6-17CE-B781-56731994A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6CD303-7AEB-C327-0C70-18770AC48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C6DFB1-C238-69A6-78D6-10CA86450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A06C14-3611-61F4-3BE0-545A0BB9A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07861B-8B2A-436A-B416-7191F2578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339610"/>
            <a:ext cx="9895951" cy="1033669"/>
          </a:xfrm>
        </p:spPr>
        <p:txBody>
          <a:bodyPr>
            <a:normAutofit/>
          </a:bodyPr>
          <a:lstStyle/>
          <a:p>
            <a:r>
              <a:rPr lang="en-US" sz="5000" dirty="0">
                <a:solidFill>
                  <a:srgbClr val="FFFFFF"/>
                </a:solidFill>
              </a:rPr>
              <a:t>Experimental setup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84521C-1AE6-9C90-6005-2AD561C22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9992358" cy="952655"/>
          </a:xfrm>
        </p:spPr>
        <p:txBody>
          <a:bodyPr>
            <a:noAutofit/>
          </a:bodyPr>
          <a:lstStyle/>
          <a:p>
            <a:r>
              <a:rPr lang="en-US" dirty="0"/>
              <a:t>Using open channel flow flume as a scale model</a:t>
            </a:r>
          </a:p>
          <a:p>
            <a:pPr lvl="1"/>
            <a:r>
              <a:rPr lang="en-US" dirty="0"/>
              <a:t>Scale factor - </a:t>
            </a:r>
            <a:r>
              <a:rPr lang="en-US" dirty="0">
                <a:highlight>
                  <a:srgbClr val="FFFF00"/>
                </a:highlight>
              </a:rPr>
              <a:t>3.05:1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C86636D-C963-2A31-F870-672805F02DC4}"/>
              </a:ext>
            </a:extLst>
          </p:cNvPr>
          <p:cNvCxnSpPr>
            <a:cxnSpLocks/>
          </p:cNvCxnSpPr>
          <p:nvPr/>
        </p:nvCxnSpPr>
        <p:spPr>
          <a:xfrm>
            <a:off x="2254769" y="6162347"/>
            <a:ext cx="8279119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D8D95BB-0D12-BC78-56E8-3621D428902A}"/>
              </a:ext>
            </a:extLst>
          </p:cNvPr>
          <p:cNvCxnSpPr>
            <a:cxnSpLocks/>
          </p:cNvCxnSpPr>
          <p:nvPr/>
        </p:nvCxnSpPr>
        <p:spPr>
          <a:xfrm>
            <a:off x="3367498" y="4736467"/>
            <a:ext cx="7166390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29F71-2D81-068C-6E79-55DD035F363D}"/>
              </a:ext>
            </a:extLst>
          </p:cNvPr>
          <p:cNvCxnSpPr>
            <a:cxnSpLocks/>
          </p:cNvCxnSpPr>
          <p:nvPr/>
        </p:nvCxnSpPr>
        <p:spPr>
          <a:xfrm flipV="1">
            <a:off x="3367498" y="3331464"/>
            <a:ext cx="0" cy="1405003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FDA412C-A9D3-25A2-29F3-F9D6F846233C}"/>
              </a:ext>
            </a:extLst>
          </p:cNvPr>
          <p:cNvCxnSpPr>
            <a:cxnSpLocks/>
          </p:cNvCxnSpPr>
          <p:nvPr/>
        </p:nvCxnSpPr>
        <p:spPr>
          <a:xfrm flipV="1">
            <a:off x="2254769" y="3331464"/>
            <a:ext cx="0" cy="2233781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898917-3A79-A31A-2D97-54599BBFD57B}"/>
              </a:ext>
            </a:extLst>
          </p:cNvPr>
          <p:cNvCxnSpPr>
            <a:cxnSpLocks/>
          </p:cNvCxnSpPr>
          <p:nvPr/>
        </p:nvCxnSpPr>
        <p:spPr>
          <a:xfrm flipH="1">
            <a:off x="2254769" y="3344129"/>
            <a:ext cx="1112729" cy="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1EA0D6C-B223-83AB-F599-03824B3271D9}"/>
              </a:ext>
            </a:extLst>
          </p:cNvPr>
          <p:cNvCxnSpPr>
            <a:cxnSpLocks/>
          </p:cNvCxnSpPr>
          <p:nvPr/>
        </p:nvCxnSpPr>
        <p:spPr>
          <a:xfrm flipV="1">
            <a:off x="3367498" y="4736467"/>
            <a:ext cx="0" cy="1012692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62C1AF6-F84D-C49D-4232-E2ECC3E5738E}"/>
              </a:ext>
            </a:extLst>
          </p:cNvPr>
          <p:cNvCxnSpPr>
            <a:cxnSpLocks/>
          </p:cNvCxnSpPr>
          <p:nvPr/>
        </p:nvCxnSpPr>
        <p:spPr>
          <a:xfrm flipV="1">
            <a:off x="9479539" y="5749159"/>
            <a:ext cx="0" cy="413188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5D3F024-081E-841E-D675-4361FFAD1012}"/>
              </a:ext>
            </a:extLst>
          </p:cNvPr>
          <p:cNvCxnSpPr>
            <a:cxnSpLocks/>
          </p:cNvCxnSpPr>
          <p:nvPr/>
        </p:nvCxnSpPr>
        <p:spPr>
          <a:xfrm flipV="1">
            <a:off x="10533888" y="4736467"/>
            <a:ext cx="0" cy="931610"/>
          </a:xfrm>
          <a:prstGeom prst="line">
            <a:avLst/>
          </a:prstGeom>
          <a:ln w="285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01799CD-9C8A-5252-315D-8D21F832857D}"/>
              </a:ext>
            </a:extLst>
          </p:cNvPr>
          <p:cNvCxnSpPr>
            <a:cxnSpLocks/>
          </p:cNvCxnSpPr>
          <p:nvPr/>
        </p:nvCxnSpPr>
        <p:spPr>
          <a:xfrm>
            <a:off x="2254769" y="4129741"/>
            <a:ext cx="1112729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DF95888-5E5B-428B-A3D5-D5D08EEA9C79}"/>
              </a:ext>
            </a:extLst>
          </p:cNvPr>
          <p:cNvCxnSpPr>
            <a:cxnSpLocks/>
          </p:cNvCxnSpPr>
          <p:nvPr/>
        </p:nvCxnSpPr>
        <p:spPr>
          <a:xfrm>
            <a:off x="4649670" y="5887570"/>
            <a:ext cx="1860332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>
            <a:extLst>
              <a:ext uri="{FF2B5EF4-FFF2-40B4-BE49-F238E27FC236}">
                <a16:creationId xmlns:a16="http://schemas.microsoft.com/office/drawing/2014/main" id="{F1865E88-425B-AEBB-B19C-CA6F9DA095E1}"/>
              </a:ext>
            </a:extLst>
          </p:cNvPr>
          <p:cNvSpPr/>
          <p:nvPr/>
        </p:nvSpPr>
        <p:spPr>
          <a:xfrm>
            <a:off x="3351460" y="5749159"/>
            <a:ext cx="1325680" cy="147261"/>
          </a:xfrm>
          <a:custGeom>
            <a:avLst/>
            <a:gdLst>
              <a:gd name="connsiteX0" fmla="*/ 0 w 1325680"/>
              <a:gd name="connsiteY0" fmla="*/ 0 h 147261"/>
              <a:gd name="connsiteX1" fmla="*/ 367357 w 1325680"/>
              <a:gd name="connsiteY1" fmla="*/ 135762 h 147261"/>
              <a:gd name="connsiteX2" fmla="*/ 1325680 w 1325680"/>
              <a:gd name="connsiteY2" fmla="*/ 139755 h 147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25680" h="147261">
                <a:moveTo>
                  <a:pt x="0" y="0"/>
                </a:moveTo>
                <a:cubicBezTo>
                  <a:pt x="73205" y="56234"/>
                  <a:pt x="146410" y="112469"/>
                  <a:pt x="367357" y="135762"/>
                </a:cubicBezTo>
                <a:cubicBezTo>
                  <a:pt x="588304" y="159055"/>
                  <a:pt x="1325680" y="139755"/>
                  <a:pt x="1325680" y="139755"/>
                </a:cubicBezTo>
              </a:path>
            </a:pathLst>
          </a:cu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CDBE607-937A-B94C-4EAC-3D85578D3299}"/>
              </a:ext>
            </a:extLst>
          </p:cNvPr>
          <p:cNvCxnSpPr>
            <a:cxnSpLocks/>
            <a:stCxn id="56" idx="4"/>
          </p:cNvCxnSpPr>
          <p:nvPr/>
        </p:nvCxnSpPr>
        <p:spPr>
          <a:xfrm flipV="1">
            <a:off x="7704766" y="5242813"/>
            <a:ext cx="1774773" cy="108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>
            <a:extLst>
              <a:ext uri="{FF2B5EF4-FFF2-40B4-BE49-F238E27FC236}">
                <a16:creationId xmlns:a16="http://schemas.microsoft.com/office/drawing/2014/main" id="{D5CF0242-BC71-129E-36A8-7398B22B18C2}"/>
              </a:ext>
            </a:extLst>
          </p:cNvPr>
          <p:cNvSpPr/>
          <p:nvPr/>
        </p:nvSpPr>
        <p:spPr>
          <a:xfrm>
            <a:off x="6510001" y="5242921"/>
            <a:ext cx="1194765" cy="644649"/>
          </a:xfrm>
          <a:custGeom>
            <a:avLst/>
            <a:gdLst>
              <a:gd name="connsiteX0" fmla="*/ 0 w 1195754"/>
              <a:gd name="connsiteY0" fmla="*/ 638457 h 638457"/>
              <a:gd name="connsiteX1" fmla="*/ 292175 w 1195754"/>
              <a:gd name="connsiteY1" fmla="*/ 568118 h 638457"/>
              <a:gd name="connsiteX2" fmla="*/ 611404 w 1195754"/>
              <a:gd name="connsiteY2" fmla="*/ 221836 h 638457"/>
              <a:gd name="connsiteX3" fmla="*/ 941453 w 1195754"/>
              <a:gd name="connsiteY3" fmla="*/ 32464 h 638457"/>
              <a:gd name="connsiteX4" fmla="*/ 1195754 w 1195754"/>
              <a:gd name="connsiteY4" fmla="*/ 0 h 638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95754" h="638457">
                <a:moveTo>
                  <a:pt x="0" y="638457"/>
                </a:moveTo>
                <a:cubicBezTo>
                  <a:pt x="95137" y="638006"/>
                  <a:pt x="190274" y="637555"/>
                  <a:pt x="292175" y="568118"/>
                </a:cubicBezTo>
                <a:cubicBezTo>
                  <a:pt x="394076" y="498681"/>
                  <a:pt x="503191" y="311112"/>
                  <a:pt x="611404" y="221836"/>
                </a:cubicBezTo>
                <a:cubicBezTo>
                  <a:pt x="719617" y="132560"/>
                  <a:pt x="844061" y="69437"/>
                  <a:pt x="941453" y="32464"/>
                </a:cubicBezTo>
                <a:cubicBezTo>
                  <a:pt x="1038845" y="-4509"/>
                  <a:pt x="1091148" y="5411"/>
                  <a:pt x="1195754" y="0"/>
                </a:cubicBezTo>
              </a:path>
            </a:pathLst>
          </a:cu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7F42143-E5F4-E111-3AF1-C60F050F004E}"/>
              </a:ext>
            </a:extLst>
          </p:cNvPr>
          <p:cNvCxnSpPr>
            <a:cxnSpLocks/>
            <a:stCxn id="63" idx="3"/>
          </p:cNvCxnSpPr>
          <p:nvPr/>
        </p:nvCxnSpPr>
        <p:spPr>
          <a:xfrm>
            <a:off x="9764341" y="5419841"/>
            <a:ext cx="769547" cy="244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reeform 62">
            <a:extLst>
              <a:ext uri="{FF2B5EF4-FFF2-40B4-BE49-F238E27FC236}">
                <a16:creationId xmlns:a16="http://schemas.microsoft.com/office/drawing/2014/main" id="{46D3AF2C-9B2C-408F-591A-BA40C87B00EA}"/>
              </a:ext>
            </a:extLst>
          </p:cNvPr>
          <p:cNvSpPr/>
          <p:nvPr/>
        </p:nvSpPr>
        <p:spPr>
          <a:xfrm>
            <a:off x="9462733" y="5242706"/>
            <a:ext cx="301608" cy="179575"/>
          </a:xfrm>
          <a:custGeom>
            <a:avLst/>
            <a:gdLst>
              <a:gd name="connsiteX0" fmla="*/ 0 w 301608"/>
              <a:gd name="connsiteY0" fmla="*/ 0 h 179575"/>
              <a:gd name="connsiteX1" fmla="*/ 119686 w 301608"/>
              <a:gd name="connsiteY1" fmla="*/ 52662 h 179575"/>
              <a:gd name="connsiteX2" fmla="*/ 210647 w 301608"/>
              <a:gd name="connsiteY2" fmla="*/ 167560 h 179575"/>
              <a:gd name="connsiteX3" fmla="*/ 301608 w 301608"/>
              <a:gd name="connsiteY3" fmla="*/ 177135 h 17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608" h="179575">
                <a:moveTo>
                  <a:pt x="0" y="0"/>
                </a:moveTo>
                <a:cubicBezTo>
                  <a:pt x="42289" y="12367"/>
                  <a:pt x="84578" y="24735"/>
                  <a:pt x="119686" y="52662"/>
                </a:cubicBezTo>
                <a:cubicBezTo>
                  <a:pt x="154794" y="80589"/>
                  <a:pt x="180327" y="146815"/>
                  <a:pt x="210647" y="167560"/>
                </a:cubicBezTo>
                <a:cubicBezTo>
                  <a:pt x="240967" y="188305"/>
                  <a:pt x="179529" y="175539"/>
                  <a:pt x="301608" y="177135"/>
                </a:cubicBezTo>
              </a:path>
            </a:pathLst>
          </a:cu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riangle 64">
            <a:extLst>
              <a:ext uri="{FF2B5EF4-FFF2-40B4-BE49-F238E27FC236}">
                <a16:creationId xmlns:a16="http://schemas.microsoft.com/office/drawing/2014/main" id="{BDB81825-146D-00A3-8447-7D7AABD99B7A}"/>
              </a:ext>
            </a:extLst>
          </p:cNvPr>
          <p:cNvSpPr/>
          <p:nvPr/>
        </p:nvSpPr>
        <p:spPr>
          <a:xfrm rot="10800000">
            <a:off x="2459755" y="4015407"/>
            <a:ext cx="149301" cy="103627"/>
          </a:xfrm>
          <a:prstGeom prst="triangl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riangle 65">
            <a:extLst>
              <a:ext uri="{FF2B5EF4-FFF2-40B4-BE49-F238E27FC236}">
                <a16:creationId xmlns:a16="http://schemas.microsoft.com/office/drawing/2014/main" id="{CA9207D7-4EBA-92F1-413D-424A6DE6CB24}"/>
              </a:ext>
            </a:extLst>
          </p:cNvPr>
          <p:cNvSpPr/>
          <p:nvPr/>
        </p:nvSpPr>
        <p:spPr>
          <a:xfrm rot="10800000">
            <a:off x="3959499" y="5780597"/>
            <a:ext cx="149301" cy="103343"/>
          </a:xfrm>
          <a:prstGeom prst="triangl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riangle 66">
            <a:extLst>
              <a:ext uri="{FF2B5EF4-FFF2-40B4-BE49-F238E27FC236}">
                <a16:creationId xmlns:a16="http://schemas.microsoft.com/office/drawing/2014/main" id="{AF13D2B3-E59B-97E5-0CAD-7F4DB4DD63B6}"/>
              </a:ext>
            </a:extLst>
          </p:cNvPr>
          <p:cNvSpPr/>
          <p:nvPr/>
        </p:nvSpPr>
        <p:spPr>
          <a:xfrm rot="10800000">
            <a:off x="7835413" y="5136437"/>
            <a:ext cx="149301" cy="93157"/>
          </a:xfrm>
          <a:prstGeom prst="triangl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gular Pentagon 67">
            <a:extLst>
              <a:ext uri="{FF2B5EF4-FFF2-40B4-BE49-F238E27FC236}">
                <a16:creationId xmlns:a16="http://schemas.microsoft.com/office/drawing/2014/main" id="{4F00517E-AEAC-6C96-0C77-14555F2193B4}"/>
              </a:ext>
            </a:extLst>
          </p:cNvPr>
          <p:cNvSpPr/>
          <p:nvPr/>
        </p:nvSpPr>
        <p:spPr>
          <a:xfrm rot="2125004">
            <a:off x="2659972" y="3238178"/>
            <a:ext cx="302322" cy="272245"/>
          </a:xfrm>
          <a:prstGeom prst="pentagon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gular Pentagon 68">
            <a:extLst>
              <a:ext uri="{FF2B5EF4-FFF2-40B4-BE49-F238E27FC236}">
                <a16:creationId xmlns:a16="http://schemas.microsoft.com/office/drawing/2014/main" id="{28DAA753-79AA-E8F9-9919-8F4998F7A2F0}"/>
              </a:ext>
            </a:extLst>
          </p:cNvPr>
          <p:cNvSpPr/>
          <p:nvPr/>
        </p:nvSpPr>
        <p:spPr>
          <a:xfrm rot="2125004">
            <a:off x="4643664" y="4536610"/>
            <a:ext cx="302322" cy="272245"/>
          </a:xfrm>
          <a:prstGeom prst="pentagon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gular Pentagon 69">
            <a:extLst>
              <a:ext uri="{FF2B5EF4-FFF2-40B4-BE49-F238E27FC236}">
                <a16:creationId xmlns:a16="http://schemas.microsoft.com/office/drawing/2014/main" id="{17B8F875-2560-3235-BFDF-1E16AFA8C840}"/>
              </a:ext>
            </a:extLst>
          </p:cNvPr>
          <p:cNvSpPr/>
          <p:nvPr/>
        </p:nvSpPr>
        <p:spPr>
          <a:xfrm rot="2125004">
            <a:off x="8340337" y="4536612"/>
            <a:ext cx="302322" cy="272245"/>
          </a:xfrm>
          <a:prstGeom prst="pentagon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ED195A9-8FFF-6D68-35CE-8F18D6E1C89F}"/>
              </a:ext>
            </a:extLst>
          </p:cNvPr>
          <p:cNvCxnSpPr>
            <a:cxnSpLocks/>
            <a:stCxn id="68" idx="4"/>
          </p:cNvCxnSpPr>
          <p:nvPr/>
        </p:nvCxnSpPr>
        <p:spPr>
          <a:xfrm>
            <a:off x="2808383" y="3539374"/>
            <a:ext cx="2063" cy="590367"/>
          </a:xfrm>
          <a:prstGeom prst="line">
            <a:avLst/>
          </a:prstGeom>
          <a:ln w="38100">
            <a:solidFill>
              <a:srgbClr val="C00000">
                <a:alpha val="48565"/>
              </a:srgb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3C478A8-68D4-40A9-946E-A6DAA721F357}"/>
              </a:ext>
            </a:extLst>
          </p:cNvPr>
          <p:cNvCxnSpPr>
            <a:cxnSpLocks/>
          </p:cNvCxnSpPr>
          <p:nvPr/>
        </p:nvCxnSpPr>
        <p:spPr>
          <a:xfrm>
            <a:off x="4789964" y="4859040"/>
            <a:ext cx="1032" cy="1008123"/>
          </a:xfrm>
          <a:prstGeom prst="line">
            <a:avLst/>
          </a:prstGeom>
          <a:ln w="38100">
            <a:solidFill>
              <a:srgbClr val="C00000">
                <a:alpha val="48565"/>
              </a:srgb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50CA631E-9B9B-AEBB-7F7A-9D0D138B4498}"/>
              </a:ext>
            </a:extLst>
          </p:cNvPr>
          <p:cNvCxnSpPr>
            <a:cxnSpLocks/>
          </p:cNvCxnSpPr>
          <p:nvPr/>
        </p:nvCxnSpPr>
        <p:spPr>
          <a:xfrm>
            <a:off x="8490466" y="4859040"/>
            <a:ext cx="0" cy="383666"/>
          </a:xfrm>
          <a:prstGeom prst="line">
            <a:avLst/>
          </a:prstGeom>
          <a:ln w="38100">
            <a:solidFill>
              <a:srgbClr val="C00000">
                <a:alpha val="48565"/>
              </a:srgb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reeform 83">
            <a:extLst>
              <a:ext uri="{FF2B5EF4-FFF2-40B4-BE49-F238E27FC236}">
                <a16:creationId xmlns:a16="http://schemas.microsoft.com/office/drawing/2014/main" id="{FE3D0911-EAC7-38FC-7B2D-38D7B13F9C54}"/>
              </a:ext>
            </a:extLst>
          </p:cNvPr>
          <p:cNvSpPr/>
          <p:nvPr/>
        </p:nvSpPr>
        <p:spPr>
          <a:xfrm>
            <a:off x="7131802" y="5502938"/>
            <a:ext cx="190851" cy="165139"/>
          </a:xfrm>
          <a:custGeom>
            <a:avLst/>
            <a:gdLst>
              <a:gd name="connsiteX0" fmla="*/ 69981 w 503444"/>
              <a:gd name="connsiteY0" fmla="*/ 0 h 407268"/>
              <a:gd name="connsiteX1" fmla="*/ 10748 w 503444"/>
              <a:gd name="connsiteY1" fmla="*/ 236930 h 407268"/>
              <a:gd name="connsiteX2" fmla="*/ 262486 w 503444"/>
              <a:gd name="connsiteY2" fmla="*/ 407223 h 407268"/>
              <a:gd name="connsiteX3" fmla="*/ 495713 w 503444"/>
              <a:gd name="connsiteY3" fmla="*/ 251738 h 407268"/>
              <a:gd name="connsiteX4" fmla="*/ 425375 w 503444"/>
              <a:gd name="connsiteY4" fmla="*/ 44425 h 407268"/>
              <a:gd name="connsiteX5" fmla="*/ 206956 w 503444"/>
              <a:gd name="connsiteY5" fmla="*/ 70339 h 407268"/>
              <a:gd name="connsiteX6" fmla="*/ 173637 w 503444"/>
              <a:gd name="connsiteY6" fmla="*/ 144379 h 407268"/>
              <a:gd name="connsiteX7" fmla="*/ 181041 w 503444"/>
              <a:gd name="connsiteY7" fmla="*/ 262844 h 407268"/>
              <a:gd name="connsiteX8" fmla="*/ 343930 w 503444"/>
              <a:gd name="connsiteY8" fmla="*/ 192506 h 407268"/>
              <a:gd name="connsiteX9" fmla="*/ 288400 w 503444"/>
              <a:gd name="connsiteY9" fmla="*/ 155485 h 40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3444" h="407268">
                <a:moveTo>
                  <a:pt x="69981" y="0"/>
                </a:moveTo>
                <a:cubicBezTo>
                  <a:pt x="24322" y="84530"/>
                  <a:pt x="-21336" y="169060"/>
                  <a:pt x="10748" y="236930"/>
                </a:cubicBezTo>
                <a:cubicBezTo>
                  <a:pt x="42832" y="304800"/>
                  <a:pt x="181659" y="404755"/>
                  <a:pt x="262486" y="407223"/>
                </a:cubicBezTo>
                <a:cubicBezTo>
                  <a:pt x="343313" y="409691"/>
                  <a:pt x="468565" y="312204"/>
                  <a:pt x="495713" y="251738"/>
                </a:cubicBezTo>
                <a:cubicBezTo>
                  <a:pt x="522861" y="191272"/>
                  <a:pt x="473501" y="74658"/>
                  <a:pt x="425375" y="44425"/>
                </a:cubicBezTo>
                <a:cubicBezTo>
                  <a:pt x="377249" y="14192"/>
                  <a:pt x="248912" y="53680"/>
                  <a:pt x="206956" y="70339"/>
                </a:cubicBezTo>
                <a:cubicBezTo>
                  <a:pt x="165000" y="86998"/>
                  <a:pt x="177956" y="112295"/>
                  <a:pt x="173637" y="144379"/>
                </a:cubicBezTo>
                <a:cubicBezTo>
                  <a:pt x="169318" y="176463"/>
                  <a:pt x="152659" y="254823"/>
                  <a:pt x="181041" y="262844"/>
                </a:cubicBezTo>
                <a:cubicBezTo>
                  <a:pt x="209423" y="270865"/>
                  <a:pt x="326037" y="210399"/>
                  <a:pt x="343930" y="192506"/>
                </a:cubicBezTo>
                <a:cubicBezTo>
                  <a:pt x="361823" y="174613"/>
                  <a:pt x="302591" y="156102"/>
                  <a:pt x="288400" y="155485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Freeform 84">
            <a:extLst>
              <a:ext uri="{FF2B5EF4-FFF2-40B4-BE49-F238E27FC236}">
                <a16:creationId xmlns:a16="http://schemas.microsoft.com/office/drawing/2014/main" id="{7F20C2A3-9330-A4EE-507F-636BDAEBC75B}"/>
              </a:ext>
            </a:extLst>
          </p:cNvPr>
          <p:cNvSpPr/>
          <p:nvPr/>
        </p:nvSpPr>
        <p:spPr>
          <a:xfrm rot="5203966">
            <a:off x="7341523" y="5366837"/>
            <a:ext cx="190851" cy="165139"/>
          </a:xfrm>
          <a:custGeom>
            <a:avLst/>
            <a:gdLst>
              <a:gd name="connsiteX0" fmla="*/ 69981 w 503444"/>
              <a:gd name="connsiteY0" fmla="*/ 0 h 407268"/>
              <a:gd name="connsiteX1" fmla="*/ 10748 w 503444"/>
              <a:gd name="connsiteY1" fmla="*/ 236930 h 407268"/>
              <a:gd name="connsiteX2" fmla="*/ 262486 w 503444"/>
              <a:gd name="connsiteY2" fmla="*/ 407223 h 407268"/>
              <a:gd name="connsiteX3" fmla="*/ 495713 w 503444"/>
              <a:gd name="connsiteY3" fmla="*/ 251738 h 407268"/>
              <a:gd name="connsiteX4" fmla="*/ 425375 w 503444"/>
              <a:gd name="connsiteY4" fmla="*/ 44425 h 407268"/>
              <a:gd name="connsiteX5" fmla="*/ 206956 w 503444"/>
              <a:gd name="connsiteY5" fmla="*/ 70339 h 407268"/>
              <a:gd name="connsiteX6" fmla="*/ 173637 w 503444"/>
              <a:gd name="connsiteY6" fmla="*/ 144379 h 407268"/>
              <a:gd name="connsiteX7" fmla="*/ 181041 w 503444"/>
              <a:gd name="connsiteY7" fmla="*/ 262844 h 407268"/>
              <a:gd name="connsiteX8" fmla="*/ 343930 w 503444"/>
              <a:gd name="connsiteY8" fmla="*/ 192506 h 407268"/>
              <a:gd name="connsiteX9" fmla="*/ 288400 w 503444"/>
              <a:gd name="connsiteY9" fmla="*/ 155485 h 40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3444" h="407268">
                <a:moveTo>
                  <a:pt x="69981" y="0"/>
                </a:moveTo>
                <a:cubicBezTo>
                  <a:pt x="24322" y="84530"/>
                  <a:pt x="-21336" y="169060"/>
                  <a:pt x="10748" y="236930"/>
                </a:cubicBezTo>
                <a:cubicBezTo>
                  <a:pt x="42832" y="304800"/>
                  <a:pt x="181659" y="404755"/>
                  <a:pt x="262486" y="407223"/>
                </a:cubicBezTo>
                <a:cubicBezTo>
                  <a:pt x="343313" y="409691"/>
                  <a:pt x="468565" y="312204"/>
                  <a:pt x="495713" y="251738"/>
                </a:cubicBezTo>
                <a:cubicBezTo>
                  <a:pt x="522861" y="191272"/>
                  <a:pt x="473501" y="74658"/>
                  <a:pt x="425375" y="44425"/>
                </a:cubicBezTo>
                <a:cubicBezTo>
                  <a:pt x="377249" y="14192"/>
                  <a:pt x="248912" y="53680"/>
                  <a:pt x="206956" y="70339"/>
                </a:cubicBezTo>
                <a:cubicBezTo>
                  <a:pt x="165000" y="86998"/>
                  <a:pt x="177956" y="112295"/>
                  <a:pt x="173637" y="144379"/>
                </a:cubicBezTo>
                <a:cubicBezTo>
                  <a:pt x="169318" y="176463"/>
                  <a:pt x="152659" y="254823"/>
                  <a:pt x="181041" y="262844"/>
                </a:cubicBezTo>
                <a:cubicBezTo>
                  <a:pt x="209423" y="270865"/>
                  <a:pt x="326037" y="210399"/>
                  <a:pt x="343930" y="192506"/>
                </a:cubicBezTo>
                <a:cubicBezTo>
                  <a:pt x="361823" y="174613"/>
                  <a:pt x="302591" y="156102"/>
                  <a:pt x="288400" y="155485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reeform 85">
            <a:extLst>
              <a:ext uri="{FF2B5EF4-FFF2-40B4-BE49-F238E27FC236}">
                <a16:creationId xmlns:a16="http://schemas.microsoft.com/office/drawing/2014/main" id="{F6FBA395-6E0E-713B-85C8-1D31C9CDF84D}"/>
              </a:ext>
            </a:extLst>
          </p:cNvPr>
          <p:cNvSpPr/>
          <p:nvPr/>
        </p:nvSpPr>
        <p:spPr>
          <a:xfrm rot="17958055">
            <a:off x="6961708" y="5699562"/>
            <a:ext cx="190851" cy="165139"/>
          </a:xfrm>
          <a:custGeom>
            <a:avLst/>
            <a:gdLst>
              <a:gd name="connsiteX0" fmla="*/ 69981 w 503444"/>
              <a:gd name="connsiteY0" fmla="*/ 0 h 407268"/>
              <a:gd name="connsiteX1" fmla="*/ 10748 w 503444"/>
              <a:gd name="connsiteY1" fmla="*/ 236930 h 407268"/>
              <a:gd name="connsiteX2" fmla="*/ 262486 w 503444"/>
              <a:gd name="connsiteY2" fmla="*/ 407223 h 407268"/>
              <a:gd name="connsiteX3" fmla="*/ 495713 w 503444"/>
              <a:gd name="connsiteY3" fmla="*/ 251738 h 407268"/>
              <a:gd name="connsiteX4" fmla="*/ 425375 w 503444"/>
              <a:gd name="connsiteY4" fmla="*/ 44425 h 407268"/>
              <a:gd name="connsiteX5" fmla="*/ 206956 w 503444"/>
              <a:gd name="connsiteY5" fmla="*/ 70339 h 407268"/>
              <a:gd name="connsiteX6" fmla="*/ 173637 w 503444"/>
              <a:gd name="connsiteY6" fmla="*/ 144379 h 407268"/>
              <a:gd name="connsiteX7" fmla="*/ 181041 w 503444"/>
              <a:gd name="connsiteY7" fmla="*/ 262844 h 407268"/>
              <a:gd name="connsiteX8" fmla="*/ 343930 w 503444"/>
              <a:gd name="connsiteY8" fmla="*/ 192506 h 407268"/>
              <a:gd name="connsiteX9" fmla="*/ 288400 w 503444"/>
              <a:gd name="connsiteY9" fmla="*/ 155485 h 40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3444" h="407268">
                <a:moveTo>
                  <a:pt x="69981" y="0"/>
                </a:moveTo>
                <a:cubicBezTo>
                  <a:pt x="24322" y="84530"/>
                  <a:pt x="-21336" y="169060"/>
                  <a:pt x="10748" y="236930"/>
                </a:cubicBezTo>
                <a:cubicBezTo>
                  <a:pt x="42832" y="304800"/>
                  <a:pt x="181659" y="404755"/>
                  <a:pt x="262486" y="407223"/>
                </a:cubicBezTo>
                <a:cubicBezTo>
                  <a:pt x="343313" y="409691"/>
                  <a:pt x="468565" y="312204"/>
                  <a:pt x="495713" y="251738"/>
                </a:cubicBezTo>
                <a:cubicBezTo>
                  <a:pt x="522861" y="191272"/>
                  <a:pt x="473501" y="74658"/>
                  <a:pt x="425375" y="44425"/>
                </a:cubicBezTo>
                <a:cubicBezTo>
                  <a:pt x="377249" y="14192"/>
                  <a:pt x="248912" y="53680"/>
                  <a:pt x="206956" y="70339"/>
                </a:cubicBezTo>
                <a:cubicBezTo>
                  <a:pt x="165000" y="86998"/>
                  <a:pt x="177956" y="112295"/>
                  <a:pt x="173637" y="144379"/>
                </a:cubicBezTo>
                <a:cubicBezTo>
                  <a:pt x="169318" y="176463"/>
                  <a:pt x="152659" y="254823"/>
                  <a:pt x="181041" y="262844"/>
                </a:cubicBezTo>
                <a:cubicBezTo>
                  <a:pt x="209423" y="270865"/>
                  <a:pt x="326037" y="210399"/>
                  <a:pt x="343930" y="192506"/>
                </a:cubicBezTo>
                <a:cubicBezTo>
                  <a:pt x="361823" y="174613"/>
                  <a:pt x="302591" y="156102"/>
                  <a:pt x="288400" y="155485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Freeform 86">
            <a:extLst>
              <a:ext uri="{FF2B5EF4-FFF2-40B4-BE49-F238E27FC236}">
                <a16:creationId xmlns:a16="http://schemas.microsoft.com/office/drawing/2014/main" id="{28A61DA6-9B31-B4B4-30DA-6BCB6C0AF0F5}"/>
              </a:ext>
            </a:extLst>
          </p:cNvPr>
          <p:cNvSpPr/>
          <p:nvPr/>
        </p:nvSpPr>
        <p:spPr>
          <a:xfrm rot="13496133">
            <a:off x="7240438" y="5715837"/>
            <a:ext cx="190851" cy="165139"/>
          </a:xfrm>
          <a:custGeom>
            <a:avLst/>
            <a:gdLst>
              <a:gd name="connsiteX0" fmla="*/ 69981 w 503444"/>
              <a:gd name="connsiteY0" fmla="*/ 0 h 407268"/>
              <a:gd name="connsiteX1" fmla="*/ 10748 w 503444"/>
              <a:gd name="connsiteY1" fmla="*/ 236930 h 407268"/>
              <a:gd name="connsiteX2" fmla="*/ 262486 w 503444"/>
              <a:gd name="connsiteY2" fmla="*/ 407223 h 407268"/>
              <a:gd name="connsiteX3" fmla="*/ 495713 w 503444"/>
              <a:gd name="connsiteY3" fmla="*/ 251738 h 407268"/>
              <a:gd name="connsiteX4" fmla="*/ 425375 w 503444"/>
              <a:gd name="connsiteY4" fmla="*/ 44425 h 407268"/>
              <a:gd name="connsiteX5" fmla="*/ 206956 w 503444"/>
              <a:gd name="connsiteY5" fmla="*/ 70339 h 407268"/>
              <a:gd name="connsiteX6" fmla="*/ 173637 w 503444"/>
              <a:gd name="connsiteY6" fmla="*/ 144379 h 407268"/>
              <a:gd name="connsiteX7" fmla="*/ 181041 w 503444"/>
              <a:gd name="connsiteY7" fmla="*/ 262844 h 407268"/>
              <a:gd name="connsiteX8" fmla="*/ 343930 w 503444"/>
              <a:gd name="connsiteY8" fmla="*/ 192506 h 407268"/>
              <a:gd name="connsiteX9" fmla="*/ 288400 w 503444"/>
              <a:gd name="connsiteY9" fmla="*/ 155485 h 407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3444" h="407268">
                <a:moveTo>
                  <a:pt x="69981" y="0"/>
                </a:moveTo>
                <a:cubicBezTo>
                  <a:pt x="24322" y="84530"/>
                  <a:pt x="-21336" y="169060"/>
                  <a:pt x="10748" y="236930"/>
                </a:cubicBezTo>
                <a:cubicBezTo>
                  <a:pt x="42832" y="304800"/>
                  <a:pt x="181659" y="404755"/>
                  <a:pt x="262486" y="407223"/>
                </a:cubicBezTo>
                <a:cubicBezTo>
                  <a:pt x="343313" y="409691"/>
                  <a:pt x="468565" y="312204"/>
                  <a:pt x="495713" y="251738"/>
                </a:cubicBezTo>
                <a:cubicBezTo>
                  <a:pt x="522861" y="191272"/>
                  <a:pt x="473501" y="74658"/>
                  <a:pt x="425375" y="44425"/>
                </a:cubicBezTo>
                <a:cubicBezTo>
                  <a:pt x="377249" y="14192"/>
                  <a:pt x="248912" y="53680"/>
                  <a:pt x="206956" y="70339"/>
                </a:cubicBezTo>
                <a:cubicBezTo>
                  <a:pt x="165000" y="86998"/>
                  <a:pt x="177956" y="112295"/>
                  <a:pt x="173637" y="144379"/>
                </a:cubicBezTo>
                <a:cubicBezTo>
                  <a:pt x="169318" y="176463"/>
                  <a:pt x="152659" y="254823"/>
                  <a:pt x="181041" y="262844"/>
                </a:cubicBezTo>
                <a:cubicBezTo>
                  <a:pt x="209423" y="270865"/>
                  <a:pt x="326037" y="210399"/>
                  <a:pt x="343930" y="192506"/>
                </a:cubicBezTo>
                <a:cubicBezTo>
                  <a:pt x="361823" y="174613"/>
                  <a:pt x="302591" y="156102"/>
                  <a:pt x="288400" y="155485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gular Pentagon 87">
            <a:extLst>
              <a:ext uri="{FF2B5EF4-FFF2-40B4-BE49-F238E27FC236}">
                <a16:creationId xmlns:a16="http://schemas.microsoft.com/office/drawing/2014/main" id="{7D1F892A-96E7-8A9F-E13A-26CA2BD5CD2F}"/>
              </a:ext>
            </a:extLst>
          </p:cNvPr>
          <p:cNvSpPr/>
          <p:nvPr/>
        </p:nvSpPr>
        <p:spPr>
          <a:xfrm rot="2125004">
            <a:off x="9374289" y="2660010"/>
            <a:ext cx="302322" cy="272245"/>
          </a:xfrm>
          <a:prstGeom prst="pentagon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31FBED90-7767-A442-3169-6FF0343D889A}"/>
              </a:ext>
            </a:extLst>
          </p:cNvPr>
          <p:cNvCxnSpPr>
            <a:cxnSpLocks/>
          </p:cNvCxnSpPr>
          <p:nvPr/>
        </p:nvCxnSpPr>
        <p:spPr>
          <a:xfrm>
            <a:off x="9524418" y="2983280"/>
            <a:ext cx="0" cy="267977"/>
          </a:xfrm>
          <a:prstGeom prst="line">
            <a:avLst/>
          </a:prstGeom>
          <a:ln w="38100">
            <a:solidFill>
              <a:srgbClr val="C00000">
                <a:alpha val="48565"/>
              </a:srgb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A870C19D-23C1-41CE-2257-106ADDC7FE74}"/>
              </a:ext>
            </a:extLst>
          </p:cNvPr>
          <p:cNvSpPr txBox="1"/>
          <p:nvPr/>
        </p:nvSpPr>
        <p:spPr>
          <a:xfrm>
            <a:off x="9686180" y="2611567"/>
            <a:ext cx="2441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Ultrasonic sensor to measure water height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4206BEA-37B4-10C0-53A8-3FAFC377D051}"/>
              </a:ext>
            </a:extLst>
          </p:cNvPr>
          <p:cNvSpPr txBox="1"/>
          <p:nvPr/>
        </p:nvSpPr>
        <p:spPr>
          <a:xfrm>
            <a:off x="2087818" y="2721388"/>
            <a:ext cx="1441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Bay side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99F929A-BE97-0E85-E262-9553B1DE1D36}"/>
              </a:ext>
            </a:extLst>
          </p:cNvPr>
          <p:cNvSpPr txBox="1"/>
          <p:nvPr/>
        </p:nvSpPr>
        <p:spPr>
          <a:xfrm>
            <a:off x="7732577" y="3932554"/>
            <a:ext cx="1515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River side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84E6282-0AC0-23B7-B17C-6798705DAC55}"/>
              </a:ext>
            </a:extLst>
          </p:cNvPr>
          <p:cNvSpPr txBox="1"/>
          <p:nvPr/>
        </p:nvSpPr>
        <p:spPr>
          <a:xfrm>
            <a:off x="3449535" y="4960012"/>
            <a:ext cx="1021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accent1"/>
                </a:solidFill>
              </a:rPr>
              <a:t>Fixed</a:t>
            </a:r>
            <a:r>
              <a:rPr lang="en-US" sz="1400" dirty="0"/>
              <a:t> </a:t>
            </a:r>
            <a:r>
              <a:rPr lang="en-US" sz="1400" dirty="0">
                <a:solidFill>
                  <a:schemeClr val="accent1"/>
                </a:solidFill>
              </a:rPr>
              <a:t>sluicegate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6C2879B0-69CE-F267-1C42-1694A31A5278}"/>
              </a:ext>
            </a:extLst>
          </p:cNvPr>
          <p:cNvCxnSpPr>
            <a:cxnSpLocks/>
          </p:cNvCxnSpPr>
          <p:nvPr/>
        </p:nvCxnSpPr>
        <p:spPr>
          <a:xfrm flipH="1">
            <a:off x="3479331" y="5117169"/>
            <a:ext cx="4182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D6ECCD60-10FA-1C18-BBCF-8849377E4E25}"/>
              </a:ext>
            </a:extLst>
          </p:cNvPr>
          <p:cNvSpPr txBox="1"/>
          <p:nvPr/>
        </p:nvSpPr>
        <p:spPr>
          <a:xfrm>
            <a:off x="8516084" y="5639127"/>
            <a:ext cx="612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Fixed</a:t>
            </a:r>
            <a:r>
              <a:rPr lang="en-US" sz="1400" dirty="0"/>
              <a:t> </a:t>
            </a:r>
            <a:r>
              <a:rPr lang="en-US" sz="1400" dirty="0">
                <a:solidFill>
                  <a:schemeClr val="accent1"/>
                </a:solidFill>
              </a:rPr>
              <a:t>weir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04E0D044-7CDD-5B13-0F43-1DED088952B0}"/>
              </a:ext>
            </a:extLst>
          </p:cNvPr>
          <p:cNvCxnSpPr>
            <a:cxnSpLocks/>
          </p:cNvCxnSpPr>
          <p:nvPr/>
        </p:nvCxnSpPr>
        <p:spPr>
          <a:xfrm>
            <a:off x="9059653" y="5798406"/>
            <a:ext cx="3170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6B582142-9733-4844-A57E-B41738D2A745}"/>
              </a:ext>
            </a:extLst>
          </p:cNvPr>
          <p:cNvSpPr txBox="1"/>
          <p:nvPr/>
        </p:nvSpPr>
        <p:spPr>
          <a:xfrm>
            <a:off x="2254769" y="6246547"/>
            <a:ext cx="10212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B0F0"/>
                </a:solidFill>
              </a:rPr>
              <a:t>Head tank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C95ED1E-1697-527F-3AFF-D8E085DCAE3B}"/>
              </a:ext>
            </a:extLst>
          </p:cNvPr>
          <p:cNvSpPr txBox="1"/>
          <p:nvPr/>
        </p:nvSpPr>
        <p:spPr>
          <a:xfrm>
            <a:off x="4259119" y="6260360"/>
            <a:ext cx="17327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B0F0"/>
                </a:solidFill>
              </a:rPr>
              <a:t>Supercritical region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CF37683-E3AE-0668-D30B-EA6FE541F708}"/>
              </a:ext>
            </a:extLst>
          </p:cNvPr>
          <p:cNvSpPr txBox="1"/>
          <p:nvPr/>
        </p:nvSpPr>
        <p:spPr>
          <a:xfrm>
            <a:off x="7480491" y="6283234"/>
            <a:ext cx="17327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rgbClr val="00B0F0"/>
                </a:solidFill>
              </a:rPr>
              <a:t>Subcritical region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A74941F-7FE3-F5C4-AB2C-072CB175D681}"/>
              </a:ext>
            </a:extLst>
          </p:cNvPr>
          <p:cNvSpPr txBox="1"/>
          <p:nvPr/>
        </p:nvSpPr>
        <p:spPr>
          <a:xfrm>
            <a:off x="9479539" y="6286201"/>
            <a:ext cx="1247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B0F0"/>
                </a:solidFill>
              </a:rPr>
              <a:t>Tailwater tank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B03789E-81DA-94F8-191D-89A9546ACADE}"/>
              </a:ext>
            </a:extLst>
          </p:cNvPr>
          <p:cNvSpPr txBox="1"/>
          <p:nvPr/>
        </p:nvSpPr>
        <p:spPr>
          <a:xfrm>
            <a:off x="3829684" y="3932555"/>
            <a:ext cx="2480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Inside the culvert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742DBD4-0ECA-EF9C-8181-5BF56FE51FA1}"/>
              </a:ext>
            </a:extLst>
          </p:cNvPr>
          <p:cNvSpPr txBox="1"/>
          <p:nvPr/>
        </p:nvSpPr>
        <p:spPr>
          <a:xfrm>
            <a:off x="6622138" y="6218828"/>
            <a:ext cx="970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00B0F0"/>
                </a:solidFill>
              </a:rPr>
              <a:t>Hydraulic jump</a:t>
            </a:r>
          </a:p>
        </p:txBody>
      </p:sp>
      <p:sp>
        <p:nvSpPr>
          <p:cNvPr id="113" name="Right Arrow 112">
            <a:extLst>
              <a:ext uri="{FF2B5EF4-FFF2-40B4-BE49-F238E27FC236}">
                <a16:creationId xmlns:a16="http://schemas.microsoft.com/office/drawing/2014/main" id="{C65AB482-2287-9449-2F32-D5DA32527F31}"/>
              </a:ext>
            </a:extLst>
          </p:cNvPr>
          <p:cNvSpPr/>
          <p:nvPr/>
        </p:nvSpPr>
        <p:spPr>
          <a:xfrm>
            <a:off x="1774288" y="5708273"/>
            <a:ext cx="381000" cy="31778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ight Arrow 114">
            <a:extLst>
              <a:ext uri="{FF2B5EF4-FFF2-40B4-BE49-F238E27FC236}">
                <a16:creationId xmlns:a16="http://schemas.microsoft.com/office/drawing/2014/main" id="{DB512DC6-6362-4803-BECD-DAB0E44AAD8F}"/>
              </a:ext>
            </a:extLst>
          </p:cNvPr>
          <p:cNvSpPr/>
          <p:nvPr/>
        </p:nvSpPr>
        <p:spPr>
          <a:xfrm>
            <a:off x="10656936" y="5780597"/>
            <a:ext cx="381000" cy="31778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8" name="Cross 117">
            <a:extLst>
              <a:ext uri="{FF2B5EF4-FFF2-40B4-BE49-F238E27FC236}">
                <a16:creationId xmlns:a16="http://schemas.microsoft.com/office/drawing/2014/main" id="{AEC7CA1E-1CD9-28C7-74DA-095F0560FDFC}"/>
              </a:ext>
            </a:extLst>
          </p:cNvPr>
          <p:cNvSpPr/>
          <p:nvPr/>
        </p:nvSpPr>
        <p:spPr>
          <a:xfrm>
            <a:off x="8946370" y="5354518"/>
            <a:ext cx="200150" cy="204970"/>
          </a:xfrm>
          <a:prstGeom prst="plus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927437C-375C-5187-5029-3112DDE1FE8B}"/>
              </a:ext>
            </a:extLst>
          </p:cNvPr>
          <p:cNvCxnSpPr>
            <a:cxnSpLocks/>
            <a:stCxn id="118" idx="0"/>
          </p:cNvCxnSpPr>
          <p:nvPr/>
        </p:nvCxnSpPr>
        <p:spPr>
          <a:xfrm flipV="1">
            <a:off x="9046445" y="4736467"/>
            <a:ext cx="0" cy="6180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6084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67F7B4-4112-3BC7-43A4-4459DBE06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131B56-F226-358E-93C5-738B36D7D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8982FA-A343-71D7-8022-08B5692D3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66D318-CDDE-4DA5-A8D3-B2270F1A9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6F533-59B2-9208-B756-96D4DC14E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764D48-B9B4-8B28-2DCC-0CF48A71E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1D00B0-D73B-89B8-001D-036E4FEC1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339610"/>
            <a:ext cx="9895951" cy="1033669"/>
          </a:xfrm>
        </p:spPr>
        <p:txBody>
          <a:bodyPr>
            <a:normAutofit/>
          </a:bodyPr>
          <a:lstStyle/>
          <a:p>
            <a:r>
              <a:rPr lang="en-US" sz="5000" dirty="0">
                <a:solidFill>
                  <a:srgbClr val="FFFFFF"/>
                </a:solidFill>
              </a:rPr>
              <a:t>Water height sensors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FA85E7B-94A1-440C-2774-7B075EAB2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350" y="1930351"/>
            <a:ext cx="2942561" cy="3923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3C9F6774-2F15-D3A7-19CF-9B9099E08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4719" y="1937041"/>
            <a:ext cx="2942562" cy="3923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9A316C13-7FF2-01C5-E79F-62F04164C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5904" y="1930351"/>
            <a:ext cx="2942563" cy="3923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908D9B3-212E-5B69-8F19-F460099B8A89}"/>
              </a:ext>
            </a:extLst>
          </p:cNvPr>
          <p:cNvSpPr txBox="1"/>
          <p:nvPr/>
        </p:nvSpPr>
        <p:spPr>
          <a:xfrm>
            <a:off x="1140498" y="6071643"/>
            <a:ext cx="1580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2400" b="0" i="0" u="none" strike="noStrike" dirty="0">
                <a:solidFill>
                  <a:srgbClr val="595959"/>
                </a:solidFill>
                <a:effectLst/>
                <a:latin typeface="Albert Sans"/>
              </a:rPr>
              <a:t>Head tank</a:t>
            </a:r>
            <a:endParaRPr lang="en-US" sz="2400" b="0" dirty="0">
              <a:effectLst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C1F7D1-3057-3643-504A-E4658E59A541}"/>
              </a:ext>
            </a:extLst>
          </p:cNvPr>
          <p:cNvSpPr txBox="1"/>
          <p:nvPr/>
        </p:nvSpPr>
        <p:spPr>
          <a:xfrm>
            <a:off x="5123417" y="6056725"/>
            <a:ext cx="19451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2400" b="0" i="0" u="none" strike="noStrike" dirty="0">
                <a:solidFill>
                  <a:srgbClr val="595959"/>
                </a:solidFill>
                <a:effectLst/>
                <a:latin typeface="Albert Sans"/>
              </a:rPr>
              <a:t>Supercritical</a:t>
            </a:r>
            <a:endParaRPr lang="en-US" sz="2400" b="0" dirty="0">
              <a:effectLst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FAFBD4-4B65-9F3B-4828-2AED8D2448A6}"/>
              </a:ext>
            </a:extLst>
          </p:cNvPr>
          <p:cNvSpPr txBox="1"/>
          <p:nvPr/>
        </p:nvSpPr>
        <p:spPr>
          <a:xfrm>
            <a:off x="9471234" y="6071643"/>
            <a:ext cx="19451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2400" b="0" i="0" u="none" strike="noStrike" dirty="0">
                <a:solidFill>
                  <a:srgbClr val="595959"/>
                </a:solidFill>
                <a:effectLst/>
                <a:latin typeface="Albert Sans"/>
              </a:rPr>
              <a:t>Subcritical</a:t>
            </a:r>
            <a:endParaRPr lang="en-US" sz="24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65783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FC3EA8-67C4-000C-26C8-155FE2EBF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4D3078-7C7B-C090-720C-A6E2A563E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1F3E52-DD28-12FE-0C91-08150E0D8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BB315D-510A-907C-A14A-4726A9121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8158DA-7788-2A5A-295D-020B98D54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D1F016-04D4-A54E-2E3F-8E01A7A35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AFAA13-FD85-EA2F-B943-18CC10B16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339610"/>
            <a:ext cx="9895951" cy="1033669"/>
          </a:xfrm>
        </p:spPr>
        <p:txBody>
          <a:bodyPr>
            <a:noAutofit/>
          </a:bodyPr>
          <a:lstStyle/>
          <a:p>
            <a:r>
              <a:rPr lang="en-US" sz="4500" dirty="0">
                <a:solidFill>
                  <a:srgbClr val="FFFFFF"/>
                </a:solidFill>
              </a:rPr>
              <a:t>Scaled hydrograph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28D328-7793-9F3D-B912-FE9E5E473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39" y="1719272"/>
            <a:ext cx="3548176" cy="50168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A33606-56C1-A155-A7C5-3B6040C66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251" y="1719272"/>
            <a:ext cx="3548177" cy="5016888"/>
          </a:xfrm>
          <a:prstGeom prst="rect">
            <a:avLst/>
          </a:prstGeom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8E4F92C6-8722-D28E-85D0-83300F0E1E6E}"/>
              </a:ext>
            </a:extLst>
          </p:cNvPr>
          <p:cNvSpPr/>
          <p:nvPr/>
        </p:nvSpPr>
        <p:spPr>
          <a:xfrm>
            <a:off x="4983653" y="3309258"/>
            <a:ext cx="1852575" cy="1502228"/>
          </a:xfrm>
          <a:prstGeom prst="rightArrow">
            <a:avLst/>
          </a:prstGeom>
          <a:solidFill>
            <a:srgbClr val="071F2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3.05:1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scale factor</a:t>
            </a:r>
          </a:p>
        </p:txBody>
      </p:sp>
    </p:spTree>
    <p:extLst>
      <p:ext uri="{BB962C8B-B14F-4D97-AF65-F5344CB8AC3E}">
        <p14:creationId xmlns:p14="http://schemas.microsoft.com/office/powerpoint/2010/main" val="2477906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4847</TotalTime>
  <Words>126</Words>
  <Application>Microsoft Macintosh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Albert Sans</vt:lpstr>
      <vt:lpstr>Aptos</vt:lpstr>
      <vt:lpstr>Aptos Display</vt:lpstr>
      <vt:lpstr>Arial</vt:lpstr>
      <vt:lpstr>Avenir Next</vt:lpstr>
      <vt:lpstr>Office Theme</vt:lpstr>
      <vt:lpstr>An experimental scale-model study of a bidirectional flow control culvert in the Chequessett Neck Road dike at the Herring River Estuary</vt:lpstr>
      <vt:lpstr>Background and motivation</vt:lpstr>
      <vt:lpstr>Bidirectional culvert</vt:lpstr>
      <vt:lpstr>Research questions</vt:lpstr>
      <vt:lpstr>Experimental setup</vt:lpstr>
      <vt:lpstr>Water height sensors</vt:lpstr>
      <vt:lpstr>Scaled hydrograph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Claire Yuewei Wang</dc:creator>
  <cp:lastModifiedBy>Claire Yuewei Wang</cp:lastModifiedBy>
  <cp:revision>2</cp:revision>
  <dcterms:created xsi:type="dcterms:W3CDTF">2025-11-14T14:58:57Z</dcterms:created>
  <dcterms:modified xsi:type="dcterms:W3CDTF">2025-11-17T23:46:42Z</dcterms:modified>
</cp:coreProperties>
</file>